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STER">
    <p:bg>
      <p:bgPr>
        <a:solidFill>
          <a:srgbClr val="F6F1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31168" y="6455664"/>
            <a:ext cx="256032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16D65"/>
                </a:solidFill>
                <a:latin typeface="Lato"/>
                <a:ea typeface="Lato"/>
                <a:cs typeface="Lato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31168" y="6455664"/>
            <a:ext cx="256032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16D65"/>
                </a:solidFill>
                <a:latin typeface="Lato"/>
                <a:ea typeface="Lato"/>
                <a:cs typeface="Lato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335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30768" y="0"/>
            <a:ext cx="3657600" cy="3657600"/>
          </a:xfrm>
          <a:prstGeom prst="ellipse">
            <a:avLst/>
          </a:prstGeom>
          <a:solidFill>
            <a:srgbClr val="D97745">
              <a:alpha val="92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464040" y="2359152"/>
            <a:ext cx="2606040" cy="2606040"/>
          </a:xfrm>
          <a:prstGeom prst="ellipse">
            <a:avLst/>
          </a:prstGeom>
          <a:solidFill>
            <a:srgbClr val="E3B65C">
              <a:alpha val="90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973568" y="3547872"/>
            <a:ext cx="2331720" cy="2331720"/>
          </a:xfrm>
          <a:prstGeom prst="ellipse">
            <a:avLst/>
          </a:prstGeom>
          <a:solidFill>
            <a:srgbClr val="2F6F6D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845552" y="1051560"/>
            <a:ext cx="379476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400" b="1" dirty="0">
                <a:solidFill>
                  <a:srgbClr val="FFFFFF">
                    <a:alpha val="96000"/>
                  </a:srgbClr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XOR</a:t>
            </a:r>
            <a:endParaRPr lang="en-US" sz="9400" dirty="0"/>
          </a:p>
        </p:txBody>
      </p:sp>
      <p:sp>
        <p:nvSpPr>
          <p:cNvPr id="6" name="Text 4"/>
          <p:cNvSpPr/>
          <p:nvPr/>
        </p:nvSpPr>
        <p:spPr>
          <a:xfrm>
            <a:off x="594360" y="502920"/>
            <a:ext cx="6766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40" kern="0" dirty="0">
                <a:solidFill>
                  <a:srgbClr val="E3B65C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PERCEPTRÓN + INGENIERÍA DE CARACTERÍSTICAS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594360" y="1051560"/>
            <a:ext cx="676656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100" b="1" dirty="0">
                <a:solidFill>
                  <a:srgbClr val="FFFFFF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Perceptrón para la</a:t>
            </a:r>
            <a:endParaRPr lang="en-US" sz="4100" dirty="0"/>
          </a:p>
          <a:p>
            <a:pPr indent="0" marL="0">
              <a:buNone/>
            </a:pPr>
            <a:r>
              <a:rPr lang="en-US" sz="4100" b="1" dirty="0">
                <a:solidFill>
                  <a:srgbClr val="FFFFFF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compuerta XOR</a:t>
            </a:r>
            <a:endParaRPr lang="en-US" sz="4100" dirty="0"/>
          </a:p>
        </p:txBody>
      </p:sp>
      <p:sp>
        <p:nvSpPr>
          <p:cNvPr id="8" name="Text 6"/>
          <p:cNvSpPr/>
          <p:nvPr/>
        </p:nvSpPr>
        <p:spPr>
          <a:xfrm>
            <a:off x="621792" y="2788920"/>
            <a:ext cx="59893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D9DED7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Kernel polinomial de grado 2 mediante un mapeo explícito al espacio tridimensional.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621792" y="3767328"/>
            <a:ext cx="2011680" cy="310896"/>
          </a:xfrm>
          <a:prstGeom prst="roundRect">
            <a:avLst>
              <a:gd name="adj" fmla="val 23529"/>
            </a:avLst>
          </a:prstGeom>
          <a:solidFill>
            <a:srgbClr val="D97745"/>
          </a:solidFill>
          <a:ln w="12700">
            <a:solidFill>
              <a:srgbClr val="D97745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21792" y="377190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PROGRAMACIÓN AVANZADA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621792" y="4315968"/>
            <a:ext cx="66294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20" b="1" dirty="0">
                <a:solidFill>
                  <a:srgbClr val="FFFFFF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Gabriel Ernesto González Palomo</a:t>
            </a:r>
            <a:pPr indent="0" marL="0">
              <a:buNone/>
            </a:pPr>
            <a:r>
              <a:rPr lang="en-US" sz="1420" dirty="0">
                <a:solidFill>
                  <a:srgbClr val="FFFFFF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  ·  190468
</a:t>
            </a:r>
            <a:pPr indent="0" marL="0">
              <a:buNone/>
            </a:pPr>
            <a:r>
              <a:rPr lang="en-US" sz="1420" b="1" dirty="0">
                <a:solidFill>
                  <a:srgbClr val="FFFFFF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Carlos Rafael Mendez Gonzalez</a:t>
            </a:r>
            <a:pPr indent="0" marL="0">
              <a:buNone/>
            </a:pPr>
            <a:r>
              <a:rPr lang="en-US" sz="1420" dirty="0">
                <a:solidFill>
                  <a:srgbClr val="FFFFFF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  ·  191209
</a:t>
            </a:r>
            <a:pPr indent="0" marL="0">
              <a:buNone/>
            </a:pPr>
            <a:r>
              <a:rPr lang="en-US" sz="1420" b="1" dirty="0">
                <a:solidFill>
                  <a:srgbClr val="FFFFFF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Rosendo Maximiliano Rodriguez Alvarado</a:t>
            </a:r>
            <a:pPr indent="0" marL="0">
              <a:buNone/>
            </a:pPr>
            <a:r>
              <a:rPr lang="en-US" sz="1420" dirty="0">
                <a:solidFill>
                  <a:srgbClr val="FFFFFF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  ·  190254</a:t>
            </a:r>
            <a:endParaRPr lang="en-US" sz="1420" dirty="0"/>
          </a:p>
        </p:txBody>
      </p:sp>
      <p:sp>
        <p:nvSpPr>
          <p:cNvPr id="12" name="Text 10"/>
          <p:cNvSpPr/>
          <p:nvPr/>
        </p:nvSpPr>
        <p:spPr>
          <a:xfrm>
            <a:off x="621792" y="5715000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7D0C9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Profesor: Jesus Alejandro Flores Hernandez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8001000" y="5989320"/>
            <a:ext cx="3611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30" dirty="0">
                <a:solidFill>
                  <a:srgbClr val="FFFFFF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Universidad Autónoma del Carmen</a:t>
            </a:r>
            <a:endParaRPr lang="en-US" sz="123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31168" y="6455664"/>
            <a:ext cx="256032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16D65"/>
                </a:solidFill>
                <a:latin typeface="Lato"/>
                <a:ea typeface="Lato"/>
                <a:cs typeface="Lato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5303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30" kern="0" dirty="0">
                <a:solidFill>
                  <a:srgbClr val="D97745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1 · PLANTEAMIENTO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10881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23352D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El problema: XOR alterna las clases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4617720" cy="4553712"/>
          </a:xfrm>
          <a:prstGeom prst="roundRect">
            <a:avLst>
              <a:gd name="adj" fmla="val 1606"/>
            </a:avLst>
          </a:prstGeom>
          <a:solidFill>
            <a:srgbClr val="FFFDFC"/>
          </a:solidFill>
          <a:ln w="10160">
            <a:solidFill>
              <a:srgbClr val="D5CEC2"/>
            </a:solidFill>
            <a:prstDash val="solid"/>
          </a:ln>
          <a:effectLst>
            <a:outerShdw sx="100000" sy="100000" kx="0" ky="0" algn="bl" rotWithShape="0" blurRad="15240" dist="50800" dir="2700000">
              <a:srgbClr val="9B958A">
                <a:alpha val="13000"/>
              </a:srgbClr>
            </a:outerShdw>
          </a:effectLst>
        </p:spPr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96112" y="1737360"/>
          <a:ext cx="3749040" cy="3108960"/>
        </p:xfrm>
        <a:graphic>
          <a:graphicData uri="http://schemas.openxmlformats.org/drawingml/2006/table">
            <a:tbl>
              <a:tblPr/>
              <a:tblGrid>
                <a:gridCol w="1188720"/>
                <a:gridCol w="1188720"/>
                <a:gridCol w="1371600"/>
              </a:tblGrid>
              <a:tr h="62179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2B2A28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x₁</a:t>
                      </a:r>
                      <a:endParaRPr lang="en-US" sz="15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64008" marR="64008" marT="64008" marB="64008" anchor="mid">
                    <a:lnL w="10160" cap="flat" cmpd="sng" algn="ctr">
                      <a:solidFill>
                        <a:srgbClr val="D5C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5C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5C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5C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2B2A28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x₂</a:t>
                      </a:r>
                      <a:endParaRPr lang="en-US" sz="15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64008" marR="64008" marT="64008" marB="64008" anchor="mid">
                    <a:lnL w="10160" cap="flat" cmpd="sng" algn="ctr">
                      <a:solidFill>
                        <a:srgbClr val="D5C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5C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5C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5C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2B2A28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XOR</a:t>
                      </a:r>
                      <a:endParaRPr lang="en-US" sz="15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64008" marR="64008" marT="64008" marB="64008" anchor="mid">
                    <a:lnL w="10160" cap="flat" cmpd="sng" algn="ctr">
                      <a:solidFill>
                        <a:srgbClr val="D5C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5C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5C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5C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C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2B2A28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0</a:t>
                      </a:r>
                      <a:endParaRPr lang="en-US" sz="15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64008" marR="64008" marT="64008" marB="64008" anchor="mid">
                    <a:lnL w="10160" cap="flat" cmpd="sng" algn="ctr">
                      <a:solidFill>
                        <a:srgbClr val="D5C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5C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5C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5C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2B2A28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0</a:t>
                      </a:r>
                      <a:endParaRPr lang="en-US" sz="15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64008" marR="64008" marT="64008" marB="64008" anchor="mid">
                    <a:lnL w="10160" cap="flat" cmpd="sng" algn="ctr">
                      <a:solidFill>
                        <a:srgbClr val="D5C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5C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5C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5C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2B2A28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0</a:t>
                      </a:r>
                      <a:endParaRPr lang="en-US" sz="15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64008" marR="64008" marT="64008" marB="64008" anchor="mid">
                    <a:lnL w="10160" cap="flat" cmpd="sng" algn="ctr">
                      <a:solidFill>
                        <a:srgbClr val="D5C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5C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5C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5C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C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2B2A28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0</a:t>
                      </a:r>
                      <a:endParaRPr lang="en-US" sz="15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64008" marR="64008" marT="64008" marB="64008" anchor="mid">
                    <a:lnL w="10160" cap="flat" cmpd="sng" algn="ctr">
                      <a:solidFill>
                        <a:srgbClr val="D5C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5C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5C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5C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2B2A28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1</a:t>
                      </a:r>
                      <a:endParaRPr lang="en-US" sz="15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64008" marR="64008" marT="64008" marB="64008" anchor="mid">
                    <a:lnL w="10160" cap="flat" cmpd="sng" algn="ctr">
                      <a:solidFill>
                        <a:srgbClr val="D5C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5C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5C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5C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2B2A28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1</a:t>
                      </a:r>
                      <a:endParaRPr lang="en-US" sz="15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64008" marR="64008" marT="64008" marB="64008" anchor="mid">
                    <a:lnL w="10160" cap="flat" cmpd="sng" algn="ctr">
                      <a:solidFill>
                        <a:srgbClr val="D5C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5C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5C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5C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C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2B2A28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1</a:t>
                      </a:r>
                      <a:endParaRPr lang="en-US" sz="15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64008" marR="64008" marT="64008" marB="64008" anchor="mid">
                    <a:lnL w="10160" cap="flat" cmpd="sng" algn="ctr">
                      <a:solidFill>
                        <a:srgbClr val="D5C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5C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5C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5C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2B2A28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0</a:t>
                      </a:r>
                      <a:endParaRPr lang="en-US" sz="15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64008" marR="64008" marT="64008" marB="64008" anchor="mid">
                    <a:lnL w="10160" cap="flat" cmpd="sng" algn="ctr">
                      <a:solidFill>
                        <a:srgbClr val="D5C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5C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5C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5C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2B2A28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1</a:t>
                      </a:r>
                      <a:endParaRPr lang="en-US" sz="15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64008" marR="64008" marT="64008" marB="64008" anchor="mid">
                    <a:lnL w="10160" cap="flat" cmpd="sng" algn="ctr">
                      <a:solidFill>
                        <a:srgbClr val="D5C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5C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5C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5C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C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2B2A28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1</a:t>
                      </a:r>
                      <a:endParaRPr lang="en-US" sz="15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64008" marR="64008" marT="64008" marB="64008" anchor="mid">
                    <a:lnL w="10160" cap="flat" cmpd="sng" algn="ctr">
                      <a:solidFill>
                        <a:srgbClr val="D5C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5C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5C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5C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2B2A28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1</a:t>
                      </a:r>
                      <a:endParaRPr lang="en-US" sz="15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64008" marR="64008" marT="64008" marB="64008" anchor="mid">
                    <a:lnL w="10160" cap="flat" cmpd="sng" algn="ctr">
                      <a:solidFill>
                        <a:srgbClr val="D5C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5C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5C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5C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2B2A28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0</a:t>
                      </a:r>
                      <a:endParaRPr lang="en-US" sz="15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64008" marR="64008" marT="64008" marB="64008" anchor="mid">
                    <a:lnL w="10160" cap="flat" cmpd="sng" algn="ctr">
                      <a:solidFill>
                        <a:srgbClr val="D5C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5C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5C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5C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C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896112" y="1737360"/>
            <a:ext cx="3749040" cy="621792"/>
          </a:xfrm>
          <a:prstGeom prst="rect">
            <a:avLst/>
          </a:prstGeom>
          <a:solidFill>
            <a:srgbClr val="23352D"/>
          </a:solidFill>
          <a:ln w="12700">
            <a:solidFill>
              <a:srgbClr val="23352D">
                <a:alpha val="0"/>
              </a:srgbClr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96112" y="1764792"/>
            <a:ext cx="1188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x₁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2084832" y="1764792"/>
            <a:ext cx="1188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x₂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3273552" y="1764792"/>
            <a:ext cx="1371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XOR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932688" y="5084064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50" dirty="0">
                <a:solidFill>
                  <a:srgbClr val="716D65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La salida vale 1 únicamente cuando las entradas son diferentes.</a:t>
            </a:r>
            <a:endParaRPr lang="en-US" sz="1550" dirty="0"/>
          </a:p>
        </p:txBody>
      </p:sp>
      <p:sp>
        <p:nvSpPr>
          <p:cNvPr id="11" name="Shape 8"/>
          <p:cNvSpPr/>
          <p:nvPr/>
        </p:nvSpPr>
        <p:spPr>
          <a:xfrm>
            <a:off x="5413248" y="1298448"/>
            <a:ext cx="6272784" cy="4553712"/>
          </a:xfrm>
          <a:prstGeom prst="roundRect">
            <a:avLst>
              <a:gd name="adj" fmla="val 1606"/>
            </a:avLst>
          </a:prstGeom>
          <a:solidFill>
            <a:srgbClr val="EEF2EC"/>
          </a:solidFill>
          <a:ln w="10160">
            <a:solidFill>
              <a:srgbClr val="D5CEC2"/>
            </a:solidFill>
            <a:prstDash val="solid"/>
          </a:ln>
          <a:effectLst>
            <a:outerShdw sx="100000" sy="100000" kx="0" ky="0" algn="bl" rotWithShape="0" blurRad="15240" dist="50800" dir="2700000">
              <a:srgbClr val="9B958A">
                <a:alpha val="13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5806440" y="1627632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352D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Salida esperada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5989320" y="2395728"/>
            <a:ext cx="1965960" cy="1024128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25400">
            <a:solidFill>
              <a:srgbClr val="D97745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989320" y="2542032"/>
            <a:ext cx="1965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B2A28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0  XOR  0</a:t>
            </a:r>
            <a:endParaRPr lang="en-US" sz="1700" dirty="0"/>
          </a:p>
        </p:txBody>
      </p:sp>
      <p:sp>
        <p:nvSpPr>
          <p:cNvPr id="15" name="Text 12"/>
          <p:cNvSpPr/>
          <p:nvPr/>
        </p:nvSpPr>
        <p:spPr>
          <a:xfrm>
            <a:off x="5989320" y="2889504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D97745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= 0</a:t>
            </a:r>
            <a:endParaRPr lang="en-US" sz="2300" dirty="0"/>
          </a:p>
        </p:txBody>
      </p:sp>
      <p:sp>
        <p:nvSpPr>
          <p:cNvPr id="16" name="Shape 13"/>
          <p:cNvSpPr/>
          <p:nvPr/>
        </p:nvSpPr>
        <p:spPr>
          <a:xfrm>
            <a:off x="8412480" y="2395728"/>
            <a:ext cx="1965960" cy="1024128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25400">
            <a:solidFill>
              <a:srgbClr val="2F6F6D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8412480" y="2542032"/>
            <a:ext cx="1965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B2A28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0  XOR  1</a:t>
            </a:r>
            <a:endParaRPr lang="en-US" sz="1700" dirty="0"/>
          </a:p>
        </p:txBody>
      </p:sp>
      <p:sp>
        <p:nvSpPr>
          <p:cNvPr id="18" name="Text 15"/>
          <p:cNvSpPr/>
          <p:nvPr/>
        </p:nvSpPr>
        <p:spPr>
          <a:xfrm>
            <a:off x="8412480" y="2889504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2F6F6D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= 1</a:t>
            </a:r>
            <a:endParaRPr lang="en-US" sz="2300" dirty="0"/>
          </a:p>
        </p:txBody>
      </p:sp>
      <p:sp>
        <p:nvSpPr>
          <p:cNvPr id="19" name="Shape 16"/>
          <p:cNvSpPr/>
          <p:nvPr/>
        </p:nvSpPr>
        <p:spPr>
          <a:xfrm>
            <a:off x="5989320" y="4096512"/>
            <a:ext cx="1965960" cy="1024128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25400">
            <a:solidFill>
              <a:srgbClr val="2F6F6D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5989320" y="4242816"/>
            <a:ext cx="1965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B2A28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1  XOR  0</a:t>
            </a:r>
            <a:endParaRPr lang="en-US" sz="1700" dirty="0"/>
          </a:p>
        </p:txBody>
      </p:sp>
      <p:sp>
        <p:nvSpPr>
          <p:cNvPr id="21" name="Text 18"/>
          <p:cNvSpPr/>
          <p:nvPr/>
        </p:nvSpPr>
        <p:spPr>
          <a:xfrm>
            <a:off x="5989320" y="4590288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2F6F6D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= 1</a:t>
            </a:r>
            <a:endParaRPr lang="en-US" sz="2300" dirty="0"/>
          </a:p>
        </p:txBody>
      </p:sp>
      <p:sp>
        <p:nvSpPr>
          <p:cNvPr id="22" name="Shape 19"/>
          <p:cNvSpPr/>
          <p:nvPr/>
        </p:nvSpPr>
        <p:spPr>
          <a:xfrm>
            <a:off x="8412480" y="4096512"/>
            <a:ext cx="1965960" cy="1024128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25400">
            <a:solidFill>
              <a:srgbClr val="D97745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412480" y="4242816"/>
            <a:ext cx="1965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B2A28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1  XOR  1</a:t>
            </a:r>
            <a:endParaRPr lang="en-US" sz="1700" dirty="0"/>
          </a:p>
        </p:txBody>
      </p:sp>
      <p:sp>
        <p:nvSpPr>
          <p:cNvPr id="24" name="Text 21"/>
          <p:cNvSpPr/>
          <p:nvPr/>
        </p:nvSpPr>
        <p:spPr>
          <a:xfrm>
            <a:off x="8412480" y="4590288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D97745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= 0</a:t>
            </a:r>
            <a:endParaRPr lang="en-US" sz="2300" dirty="0"/>
          </a:p>
        </p:txBody>
      </p:sp>
      <p:sp>
        <p:nvSpPr>
          <p:cNvPr id="25" name="Text 22"/>
          <p:cNvSpPr/>
          <p:nvPr/>
        </p:nvSpPr>
        <p:spPr>
          <a:xfrm>
            <a:off x="5806440" y="5358384"/>
            <a:ext cx="5440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dirty="0">
                <a:solidFill>
                  <a:srgbClr val="716D65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El patrón diagonal es la razón por la que una frontera lineal en 2D no basta.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411480" y="6437376"/>
            <a:ext cx="4754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716D65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Programación avanzada  ·  Perceptrón XOR</a:t>
            </a:r>
            <a:endParaRPr lang="en-US" sz="920" dirty="0"/>
          </a:p>
        </p:txBody>
      </p:sp>
      <p:sp>
        <p:nvSpPr>
          <p:cNvPr id="27" name="Shape 24"/>
          <p:cNvSpPr/>
          <p:nvPr/>
        </p:nvSpPr>
        <p:spPr>
          <a:xfrm>
            <a:off x="411480" y="6318504"/>
            <a:ext cx="11356848" cy="0"/>
          </a:xfrm>
          <a:prstGeom prst="line">
            <a:avLst/>
          </a:prstGeom>
          <a:noFill/>
          <a:ln w="8890">
            <a:solidFill>
              <a:srgbClr val="D5CEC2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31168" y="6455664"/>
            <a:ext cx="256032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16D65"/>
                </a:solidFill>
                <a:latin typeface="Lato"/>
                <a:ea typeface="Lato"/>
                <a:cs typeface="Lato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5303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30" kern="0" dirty="0">
                <a:solidFill>
                  <a:srgbClr val="D97745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2 · LIMITACIÓN LINEAL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10881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23352D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Un perceptrón simple no puede separar XOR en 2D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7543800" cy="4754880"/>
          </a:xfrm>
          <a:prstGeom prst="roundRect">
            <a:avLst>
              <a:gd name="adj" fmla="val 1538"/>
            </a:avLst>
          </a:prstGeom>
          <a:solidFill>
            <a:srgbClr val="FFFFFF"/>
          </a:solidFill>
          <a:ln w="10160">
            <a:solidFill>
              <a:srgbClr val="D5CEC2"/>
            </a:solidFill>
            <a:prstDash val="solid"/>
          </a:ln>
          <a:effectLst>
            <a:outerShdw sx="100000" sy="100000" kx="0" ky="0" algn="bl" rotWithShape="0" blurRad="15240" dist="50800" dir="2700000">
              <a:srgbClr val="9B958A">
                <a:alpha val="13000"/>
              </a:srgbClr>
            </a:outerShdw>
          </a:effectLst>
        </p:spPr>
      </p:sp>
      <p:pic>
        <p:nvPicPr>
          <p:cNvPr id="5" name="Image 0" descr="/mnt/data/work_xor/assets/xor_2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70152" y="1481328"/>
            <a:ext cx="5618480" cy="4334256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8302752" y="1298448"/>
            <a:ext cx="3383280" cy="4754880"/>
          </a:xfrm>
          <a:prstGeom prst="roundRect">
            <a:avLst>
              <a:gd name="adj" fmla="val 2162"/>
            </a:avLst>
          </a:prstGeom>
          <a:solidFill>
            <a:srgbClr val="23352D"/>
          </a:solidFill>
          <a:ln w="10160">
            <a:solidFill>
              <a:srgbClr val="23352D"/>
            </a:solidFill>
            <a:prstDash val="solid"/>
          </a:ln>
          <a:effectLst>
            <a:outerShdw sx="100000" sy="100000" kx="0" ky="0" algn="bl" rotWithShape="0" blurRad="15240" dist="50800" dir="2700000">
              <a:srgbClr val="9B958A">
                <a:alpha val="13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8668512" y="1673352"/>
            <a:ext cx="1463040" cy="310896"/>
          </a:xfrm>
          <a:prstGeom prst="roundRect">
            <a:avLst>
              <a:gd name="adj" fmla="val 23529"/>
            </a:avLst>
          </a:prstGeom>
          <a:solidFill>
            <a:srgbClr val="E3B65C"/>
          </a:solidFill>
          <a:ln w="12700">
            <a:solidFill>
              <a:srgbClr val="E3B65C">
                <a:alpha val="0"/>
              </a:srgbClr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668512" y="1677924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3352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REGLA LINEAL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8641080" y="2240280"/>
            <a:ext cx="2697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s = w₁x₁ + w₂x₂ + b</a:t>
            </a:r>
            <a:endParaRPr lang="en-US" sz="2200" dirty="0"/>
          </a:p>
        </p:txBody>
      </p:sp>
      <p:sp>
        <p:nvSpPr>
          <p:cNvPr id="10" name="Shape 7"/>
          <p:cNvSpPr/>
          <p:nvPr/>
        </p:nvSpPr>
        <p:spPr>
          <a:xfrm>
            <a:off x="8668512" y="3086100"/>
            <a:ext cx="96012" cy="96012"/>
          </a:xfrm>
          <a:prstGeom prst="ellipse">
            <a:avLst/>
          </a:prstGeom>
          <a:solidFill>
            <a:srgbClr val="D97745"/>
          </a:solidFill>
          <a:ln w="12700">
            <a:solidFill>
              <a:srgbClr val="D97745">
                <a:alpha val="0"/>
              </a:srgbClr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878824" y="2999232"/>
            <a:ext cx="245973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20" dirty="0">
                <a:solidFill>
                  <a:srgbClr val="E7EAE6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El perceptrón dibuja una recta como frontera de decisión.</a:t>
            </a:r>
            <a:endParaRPr lang="en-US" sz="1520" dirty="0"/>
          </a:p>
        </p:txBody>
      </p:sp>
      <p:sp>
        <p:nvSpPr>
          <p:cNvPr id="12" name="Shape 9"/>
          <p:cNvSpPr/>
          <p:nvPr/>
        </p:nvSpPr>
        <p:spPr>
          <a:xfrm>
            <a:off x="8668512" y="3963924"/>
            <a:ext cx="96012" cy="96012"/>
          </a:xfrm>
          <a:prstGeom prst="ellipse">
            <a:avLst/>
          </a:prstGeom>
          <a:solidFill>
            <a:srgbClr val="E3B65C"/>
          </a:solidFill>
          <a:ln w="12700">
            <a:solidFill>
              <a:srgbClr val="E3B65C">
                <a:alpha val="0"/>
              </a:srgbClr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878824" y="3877056"/>
            <a:ext cx="245973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20" dirty="0">
                <a:solidFill>
                  <a:srgbClr val="E7EAE6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En XOR, cada clase ocupa esquinas opuestas.</a:t>
            </a:r>
            <a:endParaRPr lang="en-US" sz="1520" dirty="0"/>
          </a:p>
        </p:txBody>
      </p:sp>
      <p:sp>
        <p:nvSpPr>
          <p:cNvPr id="14" name="Shape 11"/>
          <p:cNvSpPr/>
          <p:nvPr/>
        </p:nvSpPr>
        <p:spPr>
          <a:xfrm>
            <a:off x="8668512" y="4796028"/>
            <a:ext cx="96012" cy="96012"/>
          </a:xfrm>
          <a:prstGeom prst="ellipse">
            <a:avLst/>
          </a:prstGeom>
          <a:solidFill>
            <a:srgbClr val="2F6F6D"/>
          </a:solidFill>
          <a:ln w="12700">
            <a:solidFill>
              <a:srgbClr val="2F6F6D">
                <a:alpha val="0"/>
              </a:srgbClr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878824" y="4709160"/>
            <a:ext cx="245973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20" dirty="0">
                <a:solidFill>
                  <a:srgbClr val="E7EAE6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Necesitamos transformar los datos antes de entrenar.</a:t>
            </a:r>
            <a:endParaRPr lang="en-US" sz="1520" dirty="0"/>
          </a:p>
        </p:txBody>
      </p:sp>
      <p:sp>
        <p:nvSpPr>
          <p:cNvPr id="16" name="Text 13"/>
          <p:cNvSpPr/>
          <p:nvPr/>
        </p:nvSpPr>
        <p:spPr>
          <a:xfrm>
            <a:off x="411480" y="6437376"/>
            <a:ext cx="4754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716D65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Programación avanzada  ·  Perceptrón XOR</a:t>
            </a:r>
            <a:endParaRPr lang="en-US" sz="920" dirty="0"/>
          </a:p>
        </p:txBody>
      </p:sp>
      <p:sp>
        <p:nvSpPr>
          <p:cNvPr id="17" name="Shape 14"/>
          <p:cNvSpPr/>
          <p:nvPr/>
        </p:nvSpPr>
        <p:spPr>
          <a:xfrm>
            <a:off x="411480" y="6318504"/>
            <a:ext cx="11356848" cy="0"/>
          </a:xfrm>
          <a:prstGeom prst="line">
            <a:avLst/>
          </a:prstGeom>
          <a:noFill/>
          <a:ln w="8890">
            <a:solidFill>
              <a:srgbClr val="D5CEC2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31168" y="6455664"/>
            <a:ext cx="256032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16D65"/>
                </a:solidFill>
                <a:latin typeface="Lato"/>
                <a:ea typeface="Lato"/>
                <a:cs typeface="Lato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2335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5303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30" kern="0" dirty="0">
                <a:solidFill>
                  <a:srgbClr val="E3B65C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3 · KERNEL POLINOMIAL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10881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La llave: agregar la interacción x₁x₂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30352" y="1389888"/>
            <a:ext cx="4800600" cy="4453128"/>
          </a:xfrm>
          <a:prstGeom prst="roundRect">
            <a:avLst>
              <a:gd name="adj" fmla="val 1643"/>
            </a:avLst>
          </a:prstGeom>
          <a:solidFill>
            <a:srgbClr val="31463C"/>
          </a:solidFill>
          <a:ln w="10160">
            <a:solidFill>
              <a:srgbClr val="53665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96112" y="1764792"/>
            <a:ext cx="1627632" cy="310896"/>
          </a:xfrm>
          <a:prstGeom prst="roundRect">
            <a:avLst>
              <a:gd name="adj" fmla="val 23529"/>
            </a:avLst>
          </a:prstGeom>
          <a:solidFill>
            <a:srgbClr val="D97745"/>
          </a:solidFill>
          <a:ln w="12700">
            <a:solidFill>
              <a:srgbClr val="D97745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96112" y="1769364"/>
            <a:ext cx="1627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KERNEL ELEGIDO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896112" y="2249424"/>
            <a:ext cx="3931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Polinomial de grado 2</a:t>
            </a:r>
            <a:endParaRPr lang="en-US" sz="2500" dirty="0"/>
          </a:p>
        </p:txBody>
      </p:sp>
      <p:sp>
        <p:nvSpPr>
          <p:cNvPr id="8" name="Text 6"/>
          <p:cNvSpPr/>
          <p:nvPr/>
        </p:nvSpPr>
        <p:spPr>
          <a:xfrm>
            <a:off x="896112" y="2852928"/>
            <a:ext cx="388620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20" dirty="0">
                <a:solidFill>
                  <a:srgbClr val="DDE3DF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Usamos un mapeo explícito. En lugar de calcular el kernel de forma implícita, construimos directamente una nueva coordenada:</a:t>
            </a:r>
            <a:endParaRPr lang="en-US" sz="1620" dirty="0"/>
          </a:p>
        </p:txBody>
      </p:sp>
      <p:sp>
        <p:nvSpPr>
          <p:cNvPr id="9" name="Shape 7"/>
          <p:cNvSpPr/>
          <p:nvPr/>
        </p:nvSpPr>
        <p:spPr>
          <a:xfrm>
            <a:off x="896112" y="4041648"/>
            <a:ext cx="3931920" cy="841248"/>
          </a:xfrm>
          <a:prstGeom prst="roundRect">
            <a:avLst>
              <a:gd name="adj" fmla="val 7609"/>
            </a:avLst>
          </a:prstGeom>
          <a:solidFill>
            <a:srgbClr val="F6F1E8"/>
          </a:solidFill>
          <a:ln w="16510">
            <a:solidFill>
              <a:srgbClr val="E3B65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87552" y="4215384"/>
            <a:ext cx="3749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23352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φ(x₁,x₂) = (x₁, x₂, x₁x₂)</a:t>
            </a:r>
            <a:endParaRPr lang="en-US" sz="2300" dirty="0"/>
          </a:p>
        </p:txBody>
      </p:sp>
      <p:sp>
        <p:nvSpPr>
          <p:cNvPr id="11" name="Text 9"/>
          <p:cNvSpPr/>
          <p:nvPr/>
        </p:nvSpPr>
        <p:spPr>
          <a:xfrm>
            <a:off x="896112" y="5148072"/>
            <a:ext cx="3886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60" i="1" dirty="0">
                <a:solidFill>
                  <a:srgbClr val="C7D0C9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Para entradas binarias, el término de interacción x₁x₂ es suficiente para resolver XOR.</a:t>
            </a:r>
            <a:endParaRPr lang="en-US" sz="1460" dirty="0"/>
          </a:p>
        </p:txBody>
      </p:sp>
      <p:sp>
        <p:nvSpPr>
          <p:cNvPr id="12" name="Text 10"/>
          <p:cNvSpPr/>
          <p:nvPr/>
        </p:nvSpPr>
        <p:spPr>
          <a:xfrm>
            <a:off x="5715000" y="169164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Espacio original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715000" y="2148840"/>
            <a:ext cx="1600200" cy="1417320"/>
          </a:xfrm>
          <a:prstGeom prst="roundRect">
            <a:avLst>
              <a:gd name="adj" fmla="val 5161"/>
            </a:avLst>
          </a:prstGeom>
          <a:solidFill>
            <a:srgbClr val="3C5147"/>
          </a:solidFill>
          <a:ln w="13970">
            <a:solidFill>
              <a:srgbClr val="A7B39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715000" y="2542032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(x₁, x₂)</a:t>
            </a:r>
            <a:endParaRPr lang="en-US" sz="2400" dirty="0"/>
          </a:p>
        </p:txBody>
      </p:sp>
      <p:sp>
        <p:nvSpPr>
          <p:cNvPr id="15" name="Shape 13"/>
          <p:cNvSpPr/>
          <p:nvPr/>
        </p:nvSpPr>
        <p:spPr>
          <a:xfrm>
            <a:off x="7543800" y="2542032"/>
            <a:ext cx="960120" cy="594360"/>
          </a:xfrm>
          <a:prstGeom prst="chevron">
            <a:avLst/>
          </a:prstGeom>
          <a:solidFill>
            <a:srgbClr val="E3B65C"/>
          </a:solidFill>
          <a:ln w="12700">
            <a:solidFill>
              <a:srgbClr val="E3B65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690104" y="2587752"/>
            <a:ext cx="502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3352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φ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8668512" y="169164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Espacio transformado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8668512" y="2148840"/>
            <a:ext cx="2468880" cy="1417320"/>
          </a:xfrm>
          <a:prstGeom prst="roundRect">
            <a:avLst>
              <a:gd name="adj" fmla="val 5161"/>
            </a:avLst>
          </a:prstGeom>
          <a:solidFill>
            <a:srgbClr val="F6F1E8"/>
          </a:solidFill>
          <a:ln w="17780">
            <a:solidFill>
              <a:srgbClr val="D9774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759952" y="2542032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23352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(x₁, x₂, x₁x₂)</a:t>
            </a:r>
            <a:endParaRPr lang="en-US" sz="2300" dirty="0"/>
          </a:p>
        </p:txBody>
      </p:sp>
      <p:sp>
        <p:nvSpPr>
          <p:cNvPr id="20" name="Shape 18"/>
          <p:cNvSpPr/>
          <p:nvPr/>
        </p:nvSpPr>
        <p:spPr>
          <a:xfrm>
            <a:off x="5715000" y="4370832"/>
            <a:ext cx="5422392" cy="0"/>
          </a:xfrm>
          <a:prstGeom prst="line">
            <a:avLst/>
          </a:prstGeom>
          <a:noFill/>
          <a:ln w="12700">
            <a:solidFill>
              <a:srgbClr val="65746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806440" y="4681728"/>
            <a:ext cx="51663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20" dirty="0">
                <a:solidFill>
                  <a:srgbClr val="E7EAE6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La frontera sigue siendo lineal para el perceptrón, pero ahora vive en 3D y toma la forma de un plano.</a:t>
            </a:r>
            <a:endParaRPr lang="en-US" sz="1720" dirty="0"/>
          </a:p>
        </p:txBody>
      </p:sp>
      <p:sp>
        <p:nvSpPr>
          <p:cNvPr id="22" name="Text 20"/>
          <p:cNvSpPr/>
          <p:nvPr/>
        </p:nvSpPr>
        <p:spPr>
          <a:xfrm>
            <a:off x="411480" y="6437376"/>
            <a:ext cx="4754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D9DED7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Programación avanzada  ·  Perceptrón XOR</a:t>
            </a:r>
            <a:endParaRPr lang="en-US" sz="920" dirty="0"/>
          </a:p>
        </p:txBody>
      </p:sp>
      <p:sp>
        <p:nvSpPr>
          <p:cNvPr id="23" name="Shape 21"/>
          <p:cNvSpPr/>
          <p:nvPr/>
        </p:nvSpPr>
        <p:spPr>
          <a:xfrm>
            <a:off x="411480" y="6318504"/>
            <a:ext cx="11356848" cy="0"/>
          </a:xfrm>
          <a:prstGeom prst="line">
            <a:avLst/>
          </a:prstGeom>
          <a:noFill/>
          <a:ln w="8890">
            <a:solidFill>
              <a:srgbClr val="65746B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31168" y="6455664"/>
            <a:ext cx="256032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16D65"/>
                </a:solidFill>
                <a:latin typeface="Lato"/>
                <a:ea typeface="Lato"/>
                <a:cs typeface="Lato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5303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30" kern="0" dirty="0">
                <a:solidFill>
                  <a:srgbClr val="D97745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4 · NUEVO ESPACIO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10881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23352D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Los cuatro puntos después de la transformación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5650992" cy="4736592"/>
          </a:xfrm>
          <a:prstGeom prst="roundRect">
            <a:avLst>
              <a:gd name="adj" fmla="val 1544"/>
            </a:avLst>
          </a:prstGeom>
          <a:solidFill>
            <a:srgbClr val="FFFDFC"/>
          </a:solidFill>
          <a:ln w="10160">
            <a:solidFill>
              <a:srgbClr val="D5CEC2"/>
            </a:solidFill>
            <a:prstDash val="solid"/>
          </a:ln>
          <a:effectLst>
            <a:outerShdw sx="100000" sy="100000" kx="0" ky="0" algn="bl" rotWithShape="0" blurRad="15240" dist="50800" dir="2700000">
              <a:srgbClr val="9B958A">
                <a:alpha val="13000"/>
              </a:srgbClr>
            </a:outerShdw>
          </a:effectLst>
        </p:spPr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68680" y="1719072"/>
          <a:ext cx="5212080" cy="3246120"/>
        </p:xfrm>
        <a:graphic>
          <a:graphicData uri="http://schemas.openxmlformats.org/drawingml/2006/table">
            <a:tbl>
              <a:tblPr/>
              <a:tblGrid>
                <a:gridCol w="1051560"/>
                <a:gridCol w="1051560"/>
                <a:gridCol w="2057400"/>
                <a:gridCol w="1051560"/>
              </a:tblGrid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2B2A28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x₁</a:t>
                      </a:r>
                      <a:endParaRPr lang="en-US" sz="15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64008" marR="64008" marT="64008" marB="64008" anchor="mid">
                    <a:lnL w="10160" cap="flat" cmpd="sng" algn="ctr">
                      <a:solidFill>
                        <a:srgbClr val="D5C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5C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5C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5C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2B2A28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x₂</a:t>
                      </a:r>
                      <a:endParaRPr lang="en-US" sz="15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64008" marR="64008" marT="64008" marB="64008" anchor="mid">
                    <a:lnL w="10160" cap="flat" cmpd="sng" algn="ctr">
                      <a:solidFill>
                        <a:srgbClr val="D5C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5C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5C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5C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2B2A28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x₃ = x₁x₂</a:t>
                      </a:r>
                      <a:endParaRPr lang="en-US" sz="15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64008" marR="64008" marT="64008" marB="64008" anchor="mid">
                    <a:lnL w="10160" cap="flat" cmpd="sng" algn="ctr">
                      <a:solidFill>
                        <a:srgbClr val="D5C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5C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5C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5C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2B2A28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XOR</a:t>
                      </a:r>
                      <a:endParaRPr lang="en-US" sz="15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64008" marR="64008" marT="64008" marB="64008" anchor="mid">
                    <a:lnL w="10160" cap="flat" cmpd="sng" algn="ctr">
                      <a:solidFill>
                        <a:srgbClr val="D5C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5C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5C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5C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C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2B2A28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0</a:t>
                      </a:r>
                      <a:endParaRPr lang="en-US" sz="15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64008" marR="64008" marT="64008" marB="64008" anchor="mid">
                    <a:lnL w="10160" cap="flat" cmpd="sng" algn="ctr">
                      <a:solidFill>
                        <a:srgbClr val="D5C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5C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5C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5C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2B2A28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0</a:t>
                      </a:r>
                      <a:endParaRPr lang="en-US" sz="15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64008" marR="64008" marT="64008" marB="64008" anchor="mid">
                    <a:lnL w="10160" cap="flat" cmpd="sng" algn="ctr">
                      <a:solidFill>
                        <a:srgbClr val="D5C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5C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5C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5C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2B2A28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0</a:t>
                      </a:r>
                      <a:endParaRPr lang="en-US" sz="15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64008" marR="64008" marT="64008" marB="64008" anchor="mid">
                    <a:lnL w="10160" cap="flat" cmpd="sng" algn="ctr">
                      <a:solidFill>
                        <a:srgbClr val="D5C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5C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5C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5C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2B2A28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0</a:t>
                      </a:r>
                      <a:endParaRPr lang="en-US" sz="15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64008" marR="64008" marT="64008" marB="64008" anchor="mid">
                    <a:lnL w="10160" cap="flat" cmpd="sng" algn="ctr">
                      <a:solidFill>
                        <a:srgbClr val="D5C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5C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5C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5C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C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2B2A28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0</a:t>
                      </a:r>
                      <a:endParaRPr lang="en-US" sz="15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64008" marR="64008" marT="64008" marB="64008" anchor="mid">
                    <a:lnL w="10160" cap="flat" cmpd="sng" algn="ctr">
                      <a:solidFill>
                        <a:srgbClr val="D5C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5C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5C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5C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2B2A28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1</a:t>
                      </a:r>
                      <a:endParaRPr lang="en-US" sz="15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64008" marR="64008" marT="64008" marB="64008" anchor="mid">
                    <a:lnL w="10160" cap="flat" cmpd="sng" algn="ctr">
                      <a:solidFill>
                        <a:srgbClr val="D5C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5C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5C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5C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2B2A28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0</a:t>
                      </a:r>
                      <a:endParaRPr lang="en-US" sz="15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64008" marR="64008" marT="64008" marB="64008" anchor="mid">
                    <a:lnL w="10160" cap="flat" cmpd="sng" algn="ctr">
                      <a:solidFill>
                        <a:srgbClr val="D5C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5C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5C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5C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2B2A28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1</a:t>
                      </a:r>
                      <a:endParaRPr lang="en-US" sz="15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64008" marR="64008" marT="64008" marB="64008" anchor="mid">
                    <a:lnL w="10160" cap="flat" cmpd="sng" algn="ctr">
                      <a:solidFill>
                        <a:srgbClr val="D5C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5C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5C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5C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C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2B2A28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1</a:t>
                      </a:r>
                      <a:endParaRPr lang="en-US" sz="15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64008" marR="64008" marT="64008" marB="64008" anchor="mid">
                    <a:lnL w="10160" cap="flat" cmpd="sng" algn="ctr">
                      <a:solidFill>
                        <a:srgbClr val="D5C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5C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5C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5C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2B2A28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0</a:t>
                      </a:r>
                      <a:endParaRPr lang="en-US" sz="15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64008" marR="64008" marT="64008" marB="64008" anchor="mid">
                    <a:lnL w="10160" cap="flat" cmpd="sng" algn="ctr">
                      <a:solidFill>
                        <a:srgbClr val="D5C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5C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5C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5C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2B2A28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0</a:t>
                      </a:r>
                      <a:endParaRPr lang="en-US" sz="15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64008" marR="64008" marT="64008" marB="64008" anchor="mid">
                    <a:lnL w="10160" cap="flat" cmpd="sng" algn="ctr">
                      <a:solidFill>
                        <a:srgbClr val="D5C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5C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5C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5C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2B2A28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1</a:t>
                      </a:r>
                      <a:endParaRPr lang="en-US" sz="15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64008" marR="64008" marT="64008" marB="64008" anchor="mid">
                    <a:lnL w="10160" cap="flat" cmpd="sng" algn="ctr">
                      <a:solidFill>
                        <a:srgbClr val="D5C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5C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5C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5C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C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2B2A28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1</a:t>
                      </a:r>
                      <a:endParaRPr lang="en-US" sz="15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64008" marR="64008" marT="64008" marB="64008" anchor="mid">
                    <a:lnL w="10160" cap="flat" cmpd="sng" algn="ctr">
                      <a:solidFill>
                        <a:srgbClr val="D5C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5C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5C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5C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2B2A28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1</a:t>
                      </a:r>
                      <a:endParaRPr lang="en-US" sz="15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64008" marR="64008" marT="64008" marB="64008" anchor="mid">
                    <a:lnL w="10160" cap="flat" cmpd="sng" algn="ctr">
                      <a:solidFill>
                        <a:srgbClr val="D5C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5C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5C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5C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2B2A28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1</a:t>
                      </a:r>
                      <a:endParaRPr lang="en-US" sz="15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64008" marR="64008" marT="64008" marB="64008" anchor="mid">
                    <a:lnL w="10160" cap="flat" cmpd="sng" algn="ctr">
                      <a:solidFill>
                        <a:srgbClr val="D5C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5C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5C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5C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2B2A28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0</a:t>
                      </a:r>
                      <a:endParaRPr lang="en-US" sz="15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64008" marR="64008" marT="64008" marB="64008" anchor="mid">
                    <a:lnL w="10160" cap="flat" cmpd="sng" algn="ctr">
                      <a:solidFill>
                        <a:srgbClr val="D5C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5C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5C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5C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C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868680" y="1719072"/>
            <a:ext cx="5212080" cy="566928"/>
          </a:xfrm>
          <a:prstGeom prst="rect">
            <a:avLst/>
          </a:prstGeom>
          <a:solidFill>
            <a:srgbClr val="23352D"/>
          </a:solidFill>
          <a:ln w="12700">
            <a:solidFill>
              <a:srgbClr val="23352D">
                <a:alpha val="0"/>
              </a:srgbClr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68680" y="1746504"/>
            <a:ext cx="10515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x₁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1920240" y="1746504"/>
            <a:ext cx="10515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x₂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2971800" y="1746504"/>
            <a:ext cx="20574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x₃ = x₁x₂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5029200" y="1746504"/>
            <a:ext cx="10515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XOR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914400" y="5212080"/>
            <a:ext cx="4800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70" dirty="0">
                <a:solidFill>
                  <a:srgbClr val="716D65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La nueva coordenada solo vale 1 para la entrada (1,1). Ese pequeño cambio reorganiza la geometría del problema.</a:t>
            </a:r>
            <a:endParaRPr lang="en-US" sz="1470" dirty="0"/>
          </a:p>
        </p:txBody>
      </p:sp>
      <p:sp>
        <p:nvSpPr>
          <p:cNvPr id="12" name="Shape 9"/>
          <p:cNvSpPr/>
          <p:nvPr/>
        </p:nvSpPr>
        <p:spPr>
          <a:xfrm>
            <a:off x="6419088" y="1298448"/>
            <a:ext cx="5266944" cy="4736592"/>
          </a:xfrm>
          <a:prstGeom prst="roundRect">
            <a:avLst>
              <a:gd name="adj" fmla="val 1544"/>
            </a:avLst>
          </a:prstGeom>
          <a:solidFill>
            <a:srgbClr val="EEF2EC"/>
          </a:solidFill>
          <a:ln w="10160">
            <a:solidFill>
              <a:srgbClr val="D5CEC2"/>
            </a:solidFill>
            <a:prstDash val="solid"/>
          </a:ln>
          <a:effectLst>
            <a:outerShdw sx="100000" sy="100000" kx="0" ky="0" algn="bl" rotWithShape="0" blurRad="15240" dist="50800" dir="2700000">
              <a:srgbClr val="9B958A">
                <a:alpha val="13000"/>
              </a:srgbClr>
            </a:outerShdw>
          </a:effectLst>
        </p:spPr>
      </p:sp>
      <p:pic>
        <p:nvPicPr>
          <p:cNvPr id="13" name="Image 0" descr="/mnt/data/work_xor/assets/transformed_poin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00267" y="1609344"/>
            <a:ext cx="4104586" cy="3977640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8119872" y="5394960"/>
            <a:ext cx="1828800" cy="310896"/>
          </a:xfrm>
          <a:prstGeom prst="roundRect">
            <a:avLst>
              <a:gd name="adj" fmla="val 23529"/>
            </a:avLst>
          </a:prstGeom>
          <a:solidFill>
            <a:srgbClr val="2F6F6D"/>
          </a:solidFill>
          <a:ln w="12700">
            <a:solidFill>
              <a:srgbClr val="2F6F6D">
                <a:alpha val="0"/>
              </a:srgbClr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8119872" y="539953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3 DIMENSIONES</a:t>
            </a:r>
            <a:endParaRPr lang="en-US" sz="1050" dirty="0"/>
          </a:p>
        </p:txBody>
      </p:sp>
      <p:sp>
        <p:nvSpPr>
          <p:cNvPr id="16" name="Text 12"/>
          <p:cNvSpPr/>
          <p:nvPr/>
        </p:nvSpPr>
        <p:spPr>
          <a:xfrm>
            <a:off x="6967728" y="5769864"/>
            <a:ext cx="41696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20" dirty="0">
                <a:solidFill>
                  <a:srgbClr val="23352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Ahora es posible separar las clases con un plano.</a:t>
            </a:r>
            <a:endParaRPr lang="en-US" sz="1420" dirty="0"/>
          </a:p>
        </p:txBody>
      </p:sp>
      <p:sp>
        <p:nvSpPr>
          <p:cNvPr id="17" name="Text 13"/>
          <p:cNvSpPr/>
          <p:nvPr/>
        </p:nvSpPr>
        <p:spPr>
          <a:xfrm>
            <a:off x="411480" y="6437376"/>
            <a:ext cx="4754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716D65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Programación avanzada  ·  Perceptrón XOR</a:t>
            </a:r>
            <a:endParaRPr lang="en-US" sz="920" dirty="0"/>
          </a:p>
        </p:txBody>
      </p:sp>
      <p:sp>
        <p:nvSpPr>
          <p:cNvPr id="18" name="Shape 14"/>
          <p:cNvSpPr/>
          <p:nvPr/>
        </p:nvSpPr>
        <p:spPr>
          <a:xfrm>
            <a:off x="411480" y="6318504"/>
            <a:ext cx="11356848" cy="0"/>
          </a:xfrm>
          <a:prstGeom prst="line">
            <a:avLst/>
          </a:prstGeom>
          <a:noFill/>
          <a:ln w="8890">
            <a:solidFill>
              <a:srgbClr val="D5CEC2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31168" y="6455664"/>
            <a:ext cx="256032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16D65"/>
                </a:solidFill>
                <a:latin typeface="Lato"/>
                <a:ea typeface="Lato"/>
                <a:cs typeface="Lato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5303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30" kern="0" dirty="0">
                <a:solidFill>
                  <a:srgbClr val="D97745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5 · ALGORITMO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10881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23352D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Entrenamiento del perceptrón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3794760" cy="4754880"/>
          </a:xfrm>
          <a:prstGeom prst="roundRect">
            <a:avLst>
              <a:gd name="adj" fmla="val 1928"/>
            </a:avLst>
          </a:prstGeom>
          <a:solidFill>
            <a:srgbClr val="23352D"/>
          </a:solidFill>
          <a:ln w="10160">
            <a:solidFill>
              <a:srgbClr val="23352D"/>
            </a:solidFill>
            <a:prstDash val="solid"/>
          </a:ln>
          <a:effectLst>
            <a:outerShdw sx="100000" sy="100000" kx="0" ky="0" algn="bl" rotWithShape="0" blurRad="15240" dist="50800" dir="2700000">
              <a:srgbClr val="9B958A">
                <a:alpha val="13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41248" y="1664208"/>
            <a:ext cx="1783080" cy="310896"/>
          </a:xfrm>
          <a:prstGeom prst="roundRect">
            <a:avLst>
              <a:gd name="adj" fmla="val 23529"/>
            </a:avLst>
          </a:prstGeom>
          <a:solidFill>
            <a:srgbClr val="E3B65C"/>
          </a:solidFill>
          <a:ln w="12700">
            <a:solidFill>
              <a:srgbClr val="E3B65C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41248" y="166878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3352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REGLA DE DECISIÓN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850392" y="2212848"/>
            <a:ext cx="30906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s = w · φ(x) + b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1069848" y="288036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DDE3DF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Clase 1 si s ≥ 0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dirty="0">
                <a:solidFill>
                  <a:srgbClr val="DDE3DF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Clase 0 si s &lt; 0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914400" y="3931920"/>
            <a:ext cx="2944368" cy="0"/>
          </a:xfrm>
          <a:prstGeom prst="line">
            <a:avLst/>
          </a:prstGeom>
          <a:noFill/>
          <a:ln w="12700">
            <a:solidFill>
              <a:srgbClr val="65746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24128" y="42245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3B65C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Etiquetas de entrenamiento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024128" y="4626864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0 → -1      1 → +1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960120" y="5303520"/>
            <a:ext cx="29077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20" dirty="0">
                <a:solidFill>
                  <a:srgbClr val="C7D0C9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Tasa de aprendizaje η = 1</a:t>
            </a:r>
            <a:endParaRPr lang="en-US" sz="1420" dirty="0"/>
          </a:p>
        </p:txBody>
      </p:sp>
      <p:sp>
        <p:nvSpPr>
          <p:cNvPr id="13" name="Shape 11"/>
          <p:cNvSpPr/>
          <p:nvPr/>
        </p:nvSpPr>
        <p:spPr>
          <a:xfrm>
            <a:off x="4572000" y="1298448"/>
            <a:ext cx="7114032" cy="4754880"/>
          </a:xfrm>
          <a:prstGeom prst="roundRect">
            <a:avLst>
              <a:gd name="adj" fmla="val 1538"/>
            </a:avLst>
          </a:prstGeom>
          <a:solidFill>
            <a:srgbClr val="FFFFFF"/>
          </a:solidFill>
          <a:ln w="10160">
            <a:solidFill>
              <a:srgbClr val="D5CEC2"/>
            </a:solidFill>
            <a:prstDash val="solid"/>
          </a:ln>
          <a:effectLst>
            <a:outerShdw sx="100000" sy="100000" kx="0" ky="0" algn="bl" rotWithShape="0" blurRad="15240" dist="50800" dir="2700000">
              <a:srgbClr val="9B958A">
                <a:alpha val="13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956048" y="1664208"/>
            <a:ext cx="4023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3352D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Pseudocódigo usado en JavaScript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4937760" y="2130552"/>
            <a:ext cx="6355080" cy="2926080"/>
          </a:xfrm>
          <a:prstGeom prst="roundRect">
            <a:avLst>
              <a:gd name="adj" fmla="val 1875"/>
            </a:avLst>
          </a:prstGeom>
          <a:solidFill>
            <a:srgbClr val="F0EEE8"/>
          </a:solidFill>
          <a:ln w="11430">
            <a:solidFill>
              <a:srgbClr val="D5CEC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285232" y="2395728"/>
            <a:ext cx="5669280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20" dirty="0">
                <a:solidFill>
                  <a:srgbClr val="2B2A28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para cada época:</a:t>
            </a:r>
            <a:endParaRPr lang="en-US" sz="1420" dirty="0"/>
          </a:p>
          <a:p>
            <a:pPr indent="0" marL="0">
              <a:buNone/>
            </a:pPr>
            <a:r>
              <a:rPr lang="en-US" sz="1420" dirty="0">
                <a:solidFill>
                  <a:srgbClr val="2B2A28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  actualizaciones = 0</a:t>
            </a:r>
            <a:endParaRPr lang="en-US" sz="1420" dirty="0"/>
          </a:p>
          <a:p>
            <a:pPr indent="0" marL="0">
              <a:buNone/>
            </a:pPr>
            <a:r>
              <a:rPr lang="en-US" sz="1420" dirty="0">
                <a:solidFill>
                  <a:srgbClr val="2B2A28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  para cada muestra (x, y):</a:t>
            </a:r>
            <a:endParaRPr lang="en-US" sz="1420" dirty="0"/>
          </a:p>
          <a:p>
            <a:pPr indent="0" marL="0">
              <a:buNone/>
            </a:pPr>
            <a:r>
              <a:rPr lang="en-US" sz="1420" dirty="0">
                <a:solidFill>
                  <a:srgbClr val="2B2A28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    z = φ(x₁, x₂)</a:t>
            </a:r>
            <a:endParaRPr lang="en-US" sz="1420" dirty="0"/>
          </a:p>
          <a:p>
            <a:pPr indent="0" marL="0">
              <a:buNone/>
            </a:pPr>
            <a:r>
              <a:rPr lang="en-US" sz="1420" dirty="0">
                <a:solidFill>
                  <a:srgbClr val="2B2A28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    s = w · z + b</a:t>
            </a:r>
            <a:endParaRPr lang="en-US" sz="1420" dirty="0"/>
          </a:p>
          <a:p>
            <a:pPr indent="0" marL="0">
              <a:buNone/>
            </a:pPr>
            <a:r>
              <a:rPr lang="en-US" sz="1420" dirty="0">
                <a:solidFill>
                  <a:srgbClr val="2B2A28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    si y · s ≤ 0:</a:t>
            </a:r>
            <a:endParaRPr lang="en-US" sz="1420" dirty="0"/>
          </a:p>
          <a:p>
            <a:pPr indent="0" marL="0">
              <a:buNone/>
            </a:pPr>
            <a:r>
              <a:rPr lang="en-US" sz="1420" dirty="0">
                <a:solidFill>
                  <a:srgbClr val="2B2A28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      w = w + η · y · z</a:t>
            </a:r>
            <a:endParaRPr lang="en-US" sz="1420" dirty="0"/>
          </a:p>
          <a:p>
            <a:pPr indent="0" marL="0">
              <a:buNone/>
            </a:pPr>
            <a:r>
              <a:rPr lang="en-US" sz="1420" dirty="0">
                <a:solidFill>
                  <a:srgbClr val="2B2A28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      b = b + η · y</a:t>
            </a:r>
            <a:endParaRPr lang="en-US" sz="1420" dirty="0"/>
          </a:p>
          <a:p>
            <a:pPr indent="0" marL="0">
              <a:buNone/>
            </a:pPr>
            <a:r>
              <a:rPr lang="en-US" sz="1420" dirty="0">
                <a:solidFill>
                  <a:srgbClr val="2B2A28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      actualizaciones++</a:t>
            </a:r>
            <a:endParaRPr lang="en-US" sz="1420" dirty="0"/>
          </a:p>
          <a:p>
            <a:pPr indent="0" marL="0">
              <a:buNone/>
            </a:pPr>
            <a:r>
              <a:rPr lang="en-US" sz="1420" dirty="0">
                <a:solidFill>
                  <a:srgbClr val="2B2A28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  detener si actualizaciones = 0</a:t>
            </a:r>
            <a:endParaRPr lang="en-US" sz="1420" dirty="0"/>
          </a:p>
        </p:txBody>
      </p:sp>
      <p:sp>
        <p:nvSpPr>
          <p:cNvPr id="17" name="Text 15"/>
          <p:cNvSpPr/>
          <p:nvPr/>
        </p:nvSpPr>
        <p:spPr>
          <a:xfrm>
            <a:off x="5074920" y="5285232"/>
            <a:ext cx="5989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10" dirty="0">
                <a:solidFill>
                  <a:srgbClr val="716D65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Se actualiza también cuando el punto cae exactamente sobre la frontera, lo que evita terminar con ejemplos ambiguos.</a:t>
            </a:r>
            <a:endParaRPr lang="en-US" sz="1410" dirty="0"/>
          </a:p>
        </p:txBody>
      </p:sp>
      <p:sp>
        <p:nvSpPr>
          <p:cNvPr id="18" name="Text 16"/>
          <p:cNvSpPr/>
          <p:nvPr/>
        </p:nvSpPr>
        <p:spPr>
          <a:xfrm>
            <a:off x="411480" y="6437376"/>
            <a:ext cx="4754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716D65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Programación avanzada  ·  Perceptrón XOR</a:t>
            </a:r>
            <a:endParaRPr lang="en-US" sz="920" dirty="0"/>
          </a:p>
        </p:txBody>
      </p:sp>
      <p:sp>
        <p:nvSpPr>
          <p:cNvPr id="19" name="Shape 17"/>
          <p:cNvSpPr/>
          <p:nvPr/>
        </p:nvSpPr>
        <p:spPr>
          <a:xfrm>
            <a:off x="411480" y="6318504"/>
            <a:ext cx="11356848" cy="0"/>
          </a:xfrm>
          <a:prstGeom prst="line">
            <a:avLst/>
          </a:prstGeom>
          <a:noFill/>
          <a:ln w="8890">
            <a:solidFill>
              <a:srgbClr val="D5CEC2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31168" y="6455664"/>
            <a:ext cx="256032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16D65"/>
                </a:solidFill>
                <a:latin typeface="Lato"/>
                <a:ea typeface="Lato"/>
                <a:cs typeface="Lato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5303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30" kern="0" dirty="0">
                <a:solidFill>
                  <a:srgbClr val="D97745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6 · RESULTADOS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10881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23352D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El entrenamiento converge y produce un plano propio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6720840" cy="4754880"/>
          </a:xfrm>
          <a:prstGeom prst="roundRect">
            <a:avLst>
              <a:gd name="adj" fmla="val 1538"/>
            </a:avLst>
          </a:prstGeom>
          <a:solidFill>
            <a:srgbClr val="FFFFFF"/>
          </a:solidFill>
          <a:ln w="10160">
            <a:solidFill>
              <a:srgbClr val="D5CEC2"/>
            </a:solidFill>
            <a:prstDash val="solid"/>
          </a:ln>
          <a:effectLst>
            <a:outerShdw sx="100000" sy="100000" kx="0" ky="0" algn="bl" rotWithShape="0" blurRad="15240" dist="50800" dir="2700000">
              <a:srgbClr val="9B958A">
                <a:alpha val="13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41248" y="1645920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3352D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Actualizaciones por época</a:t>
            </a:r>
            <a:endParaRPr lang="en-US" sz="1700" dirty="0"/>
          </a:p>
        </p:txBody>
      </p:sp>
      <p:pic>
        <p:nvPicPr>
          <p:cNvPr id="6" name="Image 0" descr="/mnt/data/work_xor/assets/training_error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7809" y="1938528"/>
            <a:ext cx="6174486" cy="333756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005840" y="5413248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20" dirty="0">
                <a:solidFill>
                  <a:srgbClr val="716D65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En la época 12 ya no ocurre ninguna actualización.</a:t>
            </a:r>
            <a:endParaRPr lang="en-US" sz="1420" dirty="0"/>
          </a:p>
        </p:txBody>
      </p:sp>
      <p:sp>
        <p:nvSpPr>
          <p:cNvPr id="8" name="Shape 5"/>
          <p:cNvSpPr/>
          <p:nvPr/>
        </p:nvSpPr>
        <p:spPr>
          <a:xfrm>
            <a:off x="7479792" y="1298448"/>
            <a:ext cx="4206240" cy="4754880"/>
          </a:xfrm>
          <a:prstGeom prst="roundRect">
            <a:avLst>
              <a:gd name="adj" fmla="val 1739"/>
            </a:avLst>
          </a:prstGeom>
          <a:solidFill>
            <a:srgbClr val="23352D"/>
          </a:solidFill>
          <a:ln w="10160">
            <a:solidFill>
              <a:srgbClr val="23352D"/>
            </a:solidFill>
            <a:prstDash val="solid"/>
          </a:ln>
          <a:effectLst>
            <a:outerShdw sx="100000" sy="100000" kx="0" ky="0" algn="bl" rotWithShape="0" blurRad="15240" dist="50800" dir="2700000">
              <a:srgbClr val="9B958A">
                <a:alpha val="13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845552" y="1673352"/>
            <a:ext cx="1965960" cy="310896"/>
          </a:xfrm>
          <a:prstGeom prst="roundRect">
            <a:avLst>
              <a:gd name="adj" fmla="val 23529"/>
            </a:avLst>
          </a:prstGeom>
          <a:solidFill>
            <a:srgbClr val="D97745"/>
          </a:solidFill>
          <a:ln w="12700">
            <a:solidFill>
              <a:srgbClr val="D97745">
                <a:alpha val="0"/>
              </a:srgbClr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845552" y="1677924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PARÁMETROS FINALES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8001000" y="2331720"/>
            <a:ext cx="685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DDE3DF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w₁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9144000" y="2286000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2</a:t>
            </a:r>
            <a:endParaRPr lang="en-US" sz="2500" dirty="0"/>
          </a:p>
        </p:txBody>
      </p:sp>
      <p:sp>
        <p:nvSpPr>
          <p:cNvPr id="13" name="Shape 10"/>
          <p:cNvSpPr/>
          <p:nvPr/>
        </p:nvSpPr>
        <p:spPr>
          <a:xfrm>
            <a:off x="8001000" y="2752344"/>
            <a:ext cx="2834640" cy="0"/>
          </a:xfrm>
          <a:prstGeom prst="line">
            <a:avLst/>
          </a:prstGeom>
          <a:noFill/>
          <a:ln w="8890">
            <a:solidFill>
              <a:srgbClr val="56685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001000" y="2916936"/>
            <a:ext cx="685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DDE3DF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w₂</a:t>
            </a:r>
            <a:endParaRPr lang="en-US" sz="1800" dirty="0"/>
          </a:p>
        </p:txBody>
      </p:sp>
      <p:sp>
        <p:nvSpPr>
          <p:cNvPr id="15" name="Text 12"/>
          <p:cNvSpPr/>
          <p:nvPr/>
        </p:nvSpPr>
        <p:spPr>
          <a:xfrm>
            <a:off x="9144000" y="2871216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2</a:t>
            </a:r>
            <a:endParaRPr lang="en-US" sz="2500" dirty="0"/>
          </a:p>
        </p:txBody>
      </p:sp>
      <p:sp>
        <p:nvSpPr>
          <p:cNvPr id="16" name="Shape 13"/>
          <p:cNvSpPr/>
          <p:nvPr/>
        </p:nvSpPr>
        <p:spPr>
          <a:xfrm>
            <a:off x="8001000" y="3337560"/>
            <a:ext cx="2834640" cy="0"/>
          </a:xfrm>
          <a:prstGeom prst="line">
            <a:avLst/>
          </a:prstGeom>
          <a:noFill/>
          <a:ln w="8890">
            <a:solidFill>
              <a:srgbClr val="56685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8001000" y="3502152"/>
            <a:ext cx="685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DDE3DF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w₃</a:t>
            </a:r>
            <a:endParaRPr lang="en-US" sz="1800" dirty="0"/>
          </a:p>
        </p:txBody>
      </p:sp>
      <p:sp>
        <p:nvSpPr>
          <p:cNvPr id="18" name="Text 15"/>
          <p:cNvSpPr/>
          <p:nvPr/>
        </p:nvSpPr>
        <p:spPr>
          <a:xfrm>
            <a:off x="9144000" y="3456432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-5</a:t>
            </a:r>
            <a:endParaRPr lang="en-US" sz="2500" dirty="0"/>
          </a:p>
        </p:txBody>
      </p:sp>
      <p:sp>
        <p:nvSpPr>
          <p:cNvPr id="19" name="Shape 16"/>
          <p:cNvSpPr/>
          <p:nvPr/>
        </p:nvSpPr>
        <p:spPr>
          <a:xfrm>
            <a:off x="8001000" y="3922776"/>
            <a:ext cx="2834640" cy="0"/>
          </a:xfrm>
          <a:prstGeom prst="line">
            <a:avLst/>
          </a:prstGeom>
          <a:noFill/>
          <a:ln w="8890">
            <a:solidFill>
              <a:srgbClr val="56685F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8001000" y="4087368"/>
            <a:ext cx="685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DDE3DF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b</a:t>
            </a:r>
            <a:endParaRPr lang="en-US" sz="1800" dirty="0"/>
          </a:p>
        </p:txBody>
      </p:sp>
      <p:sp>
        <p:nvSpPr>
          <p:cNvPr id="21" name="Text 18"/>
          <p:cNvSpPr/>
          <p:nvPr/>
        </p:nvSpPr>
        <p:spPr>
          <a:xfrm>
            <a:off x="9144000" y="4041648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-1</a:t>
            </a:r>
            <a:endParaRPr lang="en-US" sz="2500" dirty="0"/>
          </a:p>
        </p:txBody>
      </p:sp>
      <p:sp>
        <p:nvSpPr>
          <p:cNvPr id="22" name="Shape 19"/>
          <p:cNvSpPr/>
          <p:nvPr/>
        </p:nvSpPr>
        <p:spPr>
          <a:xfrm>
            <a:off x="8001000" y="4507992"/>
            <a:ext cx="2834640" cy="0"/>
          </a:xfrm>
          <a:prstGeom prst="line">
            <a:avLst/>
          </a:prstGeom>
          <a:noFill/>
          <a:ln w="8890">
            <a:solidFill>
              <a:srgbClr val="56685F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001000" y="477316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E3B65C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Plano de decisión</a:t>
            </a:r>
            <a:endParaRPr lang="en-US" sz="1350" dirty="0"/>
          </a:p>
        </p:txBody>
      </p:sp>
      <p:sp>
        <p:nvSpPr>
          <p:cNvPr id="24" name="Shape 21"/>
          <p:cNvSpPr/>
          <p:nvPr/>
        </p:nvSpPr>
        <p:spPr>
          <a:xfrm>
            <a:off x="7909560" y="5138928"/>
            <a:ext cx="3017520" cy="658368"/>
          </a:xfrm>
          <a:prstGeom prst="roundRect">
            <a:avLst>
              <a:gd name="adj" fmla="val 8333"/>
            </a:avLst>
          </a:prstGeom>
          <a:solidFill>
            <a:srgbClr val="F6F1E8"/>
          </a:solidFill>
          <a:ln w="13970">
            <a:solidFill>
              <a:srgbClr val="E3B65C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8028432" y="5330952"/>
            <a:ext cx="277977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20" b="1" dirty="0">
                <a:solidFill>
                  <a:srgbClr val="23352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2x₁ + 2x₂ - 5x₃ - 1 = 0</a:t>
            </a:r>
            <a:endParaRPr lang="en-US" sz="1720" dirty="0"/>
          </a:p>
        </p:txBody>
      </p:sp>
      <p:sp>
        <p:nvSpPr>
          <p:cNvPr id="26" name="Text 23"/>
          <p:cNvSpPr/>
          <p:nvPr/>
        </p:nvSpPr>
        <p:spPr>
          <a:xfrm>
            <a:off x="411480" y="6437376"/>
            <a:ext cx="4754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716D65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Programación avanzada  ·  Perceptrón XOR</a:t>
            </a:r>
            <a:endParaRPr lang="en-US" sz="920" dirty="0"/>
          </a:p>
        </p:txBody>
      </p:sp>
      <p:sp>
        <p:nvSpPr>
          <p:cNvPr id="27" name="Shape 24"/>
          <p:cNvSpPr/>
          <p:nvPr/>
        </p:nvSpPr>
        <p:spPr>
          <a:xfrm>
            <a:off x="411480" y="6318504"/>
            <a:ext cx="11356848" cy="0"/>
          </a:xfrm>
          <a:prstGeom prst="line">
            <a:avLst/>
          </a:prstGeom>
          <a:noFill/>
          <a:ln w="8890">
            <a:solidFill>
              <a:srgbClr val="D5CEC2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31168" y="6455664"/>
            <a:ext cx="256032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16D65"/>
                </a:solidFill>
                <a:latin typeface="Lato"/>
                <a:ea typeface="Lato"/>
                <a:cs typeface="Lato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5303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30" kern="0" dirty="0">
                <a:solidFill>
                  <a:srgbClr val="D97745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7 · VISUALIZACIÓN 3D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10881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23352D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Plano de separación en el espacio transformado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8183880" cy="4773168"/>
          </a:xfrm>
          <a:prstGeom prst="roundRect">
            <a:avLst>
              <a:gd name="adj" fmla="val 1533"/>
            </a:avLst>
          </a:prstGeom>
          <a:solidFill>
            <a:srgbClr val="FFFFFF"/>
          </a:solidFill>
          <a:ln w="10160">
            <a:solidFill>
              <a:srgbClr val="D5CEC2"/>
            </a:solidFill>
            <a:prstDash val="solid"/>
          </a:ln>
          <a:effectLst>
            <a:outerShdw sx="100000" sy="100000" kx="0" ky="0" algn="bl" rotWithShape="0" blurRad="15240" dist="50800" dir="2700000">
              <a:srgbClr val="9B958A">
                <a:alpha val="13000"/>
              </a:srgbClr>
            </a:outerShdw>
          </a:effectLst>
        </p:spPr>
      </p:sp>
      <p:pic>
        <p:nvPicPr>
          <p:cNvPr id="5" name="Image 0" descr="/mnt/data/work_xor/assets/xor_3d_pla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96385" y="1490472"/>
            <a:ext cx="4551229" cy="443484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8942832" y="1298448"/>
            <a:ext cx="2743200" cy="4773168"/>
          </a:xfrm>
          <a:prstGeom prst="roundRect">
            <a:avLst>
              <a:gd name="adj" fmla="val 2667"/>
            </a:avLst>
          </a:prstGeom>
          <a:solidFill>
            <a:srgbClr val="23352D"/>
          </a:solidFill>
          <a:ln w="10160">
            <a:solidFill>
              <a:srgbClr val="23352D"/>
            </a:solidFill>
            <a:prstDash val="solid"/>
          </a:ln>
          <a:effectLst>
            <a:outerShdw sx="100000" sy="100000" kx="0" ky="0" algn="bl" rotWithShape="0" blurRad="15240" dist="50800" dir="2700000">
              <a:srgbClr val="9B958A">
                <a:alpha val="13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9299448" y="1673352"/>
            <a:ext cx="1417320" cy="310896"/>
          </a:xfrm>
          <a:prstGeom prst="roundRect">
            <a:avLst>
              <a:gd name="adj" fmla="val 23529"/>
            </a:avLst>
          </a:prstGeom>
          <a:solidFill>
            <a:srgbClr val="E3B65C"/>
          </a:solidFill>
          <a:ln w="12700">
            <a:solidFill>
              <a:srgbClr val="E3B65C">
                <a:alpha val="0"/>
              </a:srgbClr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299448" y="1677924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3352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GEOGEBRA 3D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9299448" y="223113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Puntos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299448" y="2578608"/>
            <a:ext cx="20116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80" dirty="0">
                <a:solidFill>
                  <a:srgbClr val="DDE3DF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A=(0,0,0)</a:t>
            </a: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DDE3DF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B=(0,1,0)</a:t>
            </a: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DDE3DF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C=(1,0,0)</a:t>
            </a: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DDE3DF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D=(1,1,1)</a:t>
            </a:r>
            <a:endParaRPr lang="en-US" sz="1480" dirty="0"/>
          </a:p>
        </p:txBody>
      </p:sp>
      <p:sp>
        <p:nvSpPr>
          <p:cNvPr id="11" name="Text 8"/>
          <p:cNvSpPr/>
          <p:nvPr/>
        </p:nvSpPr>
        <p:spPr>
          <a:xfrm>
            <a:off x="9299448" y="404164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Plano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9217152" y="4425696"/>
            <a:ext cx="2176272" cy="713232"/>
          </a:xfrm>
          <a:prstGeom prst="roundRect">
            <a:avLst>
              <a:gd name="adj" fmla="val 6410"/>
            </a:avLst>
          </a:prstGeom>
          <a:solidFill>
            <a:srgbClr val="F6F1E8"/>
          </a:solidFill>
          <a:ln w="13970">
            <a:solidFill>
              <a:srgbClr val="D97745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9326880" y="4617720"/>
            <a:ext cx="19568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20" b="1" dirty="0">
                <a:solidFill>
                  <a:srgbClr val="23352D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2x + 2y - 5z - 1 = 0</a:t>
            </a:r>
            <a:endParaRPr lang="en-US" sz="1320" dirty="0"/>
          </a:p>
        </p:txBody>
      </p:sp>
      <p:sp>
        <p:nvSpPr>
          <p:cNvPr id="14" name="Text 11"/>
          <p:cNvSpPr/>
          <p:nvPr/>
        </p:nvSpPr>
        <p:spPr>
          <a:xfrm>
            <a:off x="9326880" y="5413248"/>
            <a:ext cx="195681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70" dirty="0">
                <a:solidFill>
                  <a:srgbClr val="DDE3DF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 y D: clase 0</a:t>
            </a:r>
            <a:endParaRPr lang="en-US" sz="1370" dirty="0"/>
          </a:p>
          <a:p>
            <a:pPr algn="ctr" indent="0" marL="0">
              <a:buNone/>
            </a:pPr>
            <a:r>
              <a:rPr lang="en-US" sz="1370" dirty="0">
                <a:solidFill>
                  <a:srgbClr val="DDE3DF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B y C: clase 1</a:t>
            </a:r>
            <a:endParaRPr lang="en-US" sz="1370" dirty="0"/>
          </a:p>
        </p:txBody>
      </p:sp>
      <p:sp>
        <p:nvSpPr>
          <p:cNvPr id="15" name="Text 12"/>
          <p:cNvSpPr/>
          <p:nvPr/>
        </p:nvSpPr>
        <p:spPr>
          <a:xfrm>
            <a:off x="411480" y="6437376"/>
            <a:ext cx="4754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716D65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Programación avanzada  ·  Perceptrón XOR</a:t>
            </a:r>
            <a:endParaRPr lang="en-US" sz="920" dirty="0"/>
          </a:p>
        </p:txBody>
      </p:sp>
      <p:sp>
        <p:nvSpPr>
          <p:cNvPr id="16" name="Shape 13"/>
          <p:cNvSpPr/>
          <p:nvPr/>
        </p:nvSpPr>
        <p:spPr>
          <a:xfrm>
            <a:off x="411480" y="6318504"/>
            <a:ext cx="11356848" cy="0"/>
          </a:xfrm>
          <a:prstGeom prst="line">
            <a:avLst/>
          </a:prstGeom>
          <a:noFill/>
          <a:ln w="8890">
            <a:solidFill>
              <a:srgbClr val="D5CEC2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31168" y="6455664"/>
            <a:ext cx="256032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16D65"/>
                </a:solidFill>
                <a:latin typeface="Lato"/>
                <a:ea typeface="Lato"/>
                <a:cs typeface="Lato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5303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30" kern="0" dirty="0">
                <a:solidFill>
                  <a:srgbClr val="D97745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8 · CLASIFICACIÓN FINAL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10881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23352D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Verificación de las cuatro combinaciones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8549640" cy="4754880"/>
          </a:xfrm>
          <a:prstGeom prst="roundRect">
            <a:avLst>
              <a:gd name="adj" fmla="val 1538"/>
            </a:avLst>
          </a:prstGeom>
          <a:solidFill>
            <a:srgbClr val="FFFFFF"/>
          </a:solidFill>
          <a:ln w="10160">
            <a:solidFill>
              <a:srgbClr val="D5CEC2"/>
            </a:solidFill>
            <a:prstDash val="solid"/>
          </a:ln>
          <a:effectLst>
            <a:outerShdw sx="100000" sy="100000" kx="0" ky="0" algn="bl" rotWithShape="0" blurRad="15240" dist="50800" dir="2700000">
              <a:srgbClr val="9B958A">
                <a:alpha val="13000"/>
              </a:srgbClr>
            </a:outerShdw>
          </a:effectLst>
        </p:spPr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1737360"/>
          <a:ext cx="7909560" cy="3246120"/>
        </p:xfrm>
        <a:graphic>
          <a:graphicData uri="http://schemas.openxmlformats.org/drawingml/2006/table">
            <a:tbl>
              <a:tblPr/>
              <a:tblGrid>
                <a:gridCol w="1325880"/>
                <a:gridCol w="1920240"/>
                <a:gridCol w="1417320"/>
                <a:gridCol w="1645920"/>
                <a:gridCol w="1600200"/>
              </a:tblGrid>
              <a:tr h="62179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20" dirty="0">
                          <a:solidFill>
                            <a:srgbClr val="2B2A28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Entrada</a:t>
                      </a:r>
                      <a:endParaRPr lang="en-US" sz="152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54864" marR="54864" marT="54864" marB="54864" anchor="mid">
                    <a:lnL w="10160" cap="flat" cmpd="sng" algn="ctr">
                      <a:solidFill>
                        <a:srgbClr val="D5C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5C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5C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5C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20" dirty="0">
                          <a:solidFill>
                            <a:srgbClr val="2B2A28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φ(x)</a:t>
                      </a:r>
                      <a:endParaRPr lang="en-US" sz="152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54864" marR="54864" marT="54864" marB="54864" anchor="mid">
                    <a:lnL w="10160" cap="flat" cmpd="sng" algn="ctr">
                      <a:solidFill>
                        <a:srgbClr val="D5C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5C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5C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5C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20" dirty="0">
                          <a:solidFill>
                            <a:srgbClr val="2B2A28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Esperado</a:t>
                      </a:r>
                      <a:endParaRPr lang="en-US" sz="152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54864" marR="54864" marT="54864" marB="54864" anchor="mid">
                    <a:lnL w="10160" cap="flat" cmpd="sng" algn="ctr">
                      <a:solidFill>
                        <a:srgbClr val="D5C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5C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5C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5C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20" dirty="0">
                          <a:solidFill>
                            <a:srgbClr val="2B2A28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Puntuación</a:t>
                      </a:r>
                      <a:endParaRPr lang="en-US" sz="152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54864" marR="54864" marT="54864" marB="54864" anchor="mid">
                    <a:lnL w="10160" cap="flat" cmpd="sng" algn="ctr">
                      <a:solidFill>
                        <a:srgbClr val="D5C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5C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5C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5C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20" dirty="0">
                          <a:solidFill>
                            <a:srgbClr val="2B2A28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Obtenido</a:t>
                      </a:r>
                      <a:endParaRPr lang="en-US" sz="152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54864" marR="54864" marT="54864" marB="54864" anchor="mid">
                    <a:lnL w="10160" cap="flat" cmpd="sng" algn="ctr">
                      <a:solidFill>
                        <a:srgbClr val="D5C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5C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5C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5C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C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20" dirty="0">
                          <a:solidFill>
                            <a:srgbClr val="2B2A28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(0,0)</a:t>
                      </a:r>
                      <a:endParaRPr lang="en-US" sz="152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54864" marR="54864" marT="54864" marB="54864" anchor="mid">
                    <a:lnL w="10160" cap="flat" cmpd="sng" algn="ctr">
                      <a:solidFill>
                        <a:srgbClr val="D5C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5C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5C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5C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20" dirty="0">
                          <a:solidFill>
                            <a:srgbClr val="2B2A28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(0,0,0)</a:t>
                      </a:r>
                      <a:endParaRPr lang="en-US" sz="152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54864" marR="54864" marT="54864" marB="54864" anchor="mid">
                    <a:lnL w="10160" cap="flat" cmpd="sng" algn="ctr">
                      <a:solidFill>
                        <a:srgbClr val="D5C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5C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5C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5C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20" dirty="0">
                          <a:solidFill>
                            <a:srgbClr val="2B2A28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0</a:t>
                      </a:r>
                      <a:endParaRPr lang="en-US" sz="152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54864" marR="54864" marT="54864" marB="54864" anchor="mid">
                    <a:lnL w="10160" cap="flat" cmpd="sng" algn="ctr">
                      <a:solidFill>
                        <a:srgbClr val="D5C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5C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5C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5C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20" dirty="0">
                          <a:solidFill>
                            <a:srgbClr val="2B2A28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-1</a:t>
                      </a:r>
                      <a:endParaRPr lang="en-US" sz="152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54864" marR="54864" marT="54864" marB="54864" anchor="mid">
                    <a:lnL w="10160" cap="flat" cmpd="sng" algn="ctr">
                      <a:solidFill>
                        <a:srgbClr val="D5C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5C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5C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5C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20" dirty="0">
                          <a:solidFill>
                            <a:srgbClr val="2B2A28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0</a:t>
                      </a:r>
                      <a:endParaRPr lang="en-US" sz="152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54864" marR="54864" marT="54864" marB="54864" anchor="mid">
                    <a:lnL w="10160" cap="flat" cmpd="sng" algn="ctr">
                      <a:solidFill>
                        <a:srgbClr val="D5C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5C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5C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5C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C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20" dirty="0">
                          <a:solidFill>
                            <a:srgbClr val="2B2A28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(0,1)</a:t>
                      </a:r>
                      <a:endParaRPr lang="en-US" sz="152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54864" marR="54864" marT="54864" marB="54864" anchor="mid">
                    <a:lnL w="10160" cap="flat" cmpd="sng" algn="ctr">
                      <a:solidFill>
                        <a:srgbClr val="D5C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5C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5C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5C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20" dirty="0">
                          <a:solidFill>
                            <a:srgbClr val="2B2A28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(0,1,0)</a:t>
                      </a:r>
                      <a:endParaRPr lang="en-US" sz="152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54864" marR="54864" marT="54864" marB="54864" anchor="mid">
                    <a:lnL w="10160" cap="flat" cmpd="sng" algn="ctr">
                      <a:solidFill>
                        <a:srgbClr val="D5C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5C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5C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5C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20" dirty="0">
                          <a:solidFill>
                            <a:srgbClr val="2B2A28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1</a:t>
                      </a:r>
                      <a:endParaRPr lang="en-US" sz="152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54864" marR="54864" marT="54864" marB="54864" anchor="mid">
                    <a:lnL w="10160" cap="flat" cmpd="sng" algn="ctr">
                      <a:solidFill>
                        <a:srgbClr val="D5C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5C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5C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5C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20" dirty="0">
                          <a:solidFill>
                            <a:srgbClr val="2B2A28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1</a:t>
                      </a:r>
                      <a:endParaRPr lang="en-US" sz="152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54864" marR="54864" marT="54864" marB="54864" anchor="mid">
                    <a:lnL w="10160" cap="flat" cmpd="sng" algn="ctr">
                      <a:solidFill>
                        <a:srgbClr val="D5C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5C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5C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5C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20" dirty="0">
                          <a:solidFill>
                            <a:srgbClr val="2B2A28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1</a:t>
                      </a:r>
                      <a:endParaRPr lang="en-US" sz="152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54864" marR="54864" marT="54864" marB="54864" anchor="mid">
                    <a:lnL w="10160" cap="flat" cmpd="sng" algn="ctr">
                      <a:solidFill>
                        <a:srgbClr val="D5C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5C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5C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5C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C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20" dirty="0">
                          <a:solidFill>
                            <a:srgbClr val="2B2A28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(1,0)</a:t>
                      </a:r>
                      <a:endParaRPr lang="en-US" sz="152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54864" marR="54864" marT="54864" marB="54864" anchor="mid">
                    <a:lnL w="10160" cap="flat" cmpd="sng" algn="ctr">
                      <a:solidFill>
                        <a:srgbClr val="D5C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5C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5C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5C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20" dirty="0">
                          <a:solidFill>
                            <a:srgbClr val="2B2A28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(1,0,0)</a:t>
                      </a:r>
                      <a:endParaRPr lang="en-US" sz="152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54864" marR="54864" marT="54864" marB="54864" anchor="mid">
                    <a:lnL w="10160" cap="flat" cmpd="sng" algn="ctr">
                      <a:solidFill>
                        <a:srgbClr val="D5C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5C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5C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5C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20" dirty="0">
                          <a:solidFill>
                            <a:srgbClr val="2B2A28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1</a:t>
                      </a:r>
                      <a:endParaRPr lang="en-US" sz="152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54864" marR="54864" marT="54864" marB="54864" anchor="mid">
                    <a:lnL w="10160" cap="flat" cmpd="sng" algn="ctr">
                      <a:solidFill>
                        <a:srgbClr val="D5C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5C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5C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5C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20" dirty="0">
                          <a:solidFill>
                            <a:srgbClr val="2B2A28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1</a:t>
                      </a:r>
                      <a:endParaRPr lang="en-US" sz="152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54864" marR="54864" marT="54864" marB="54864" anchor="mid">
                    <a:lnL w="10160" cap="flat" cmpd="sng" algn="ctr">
                      <a:solidFill>
                        <a:srgbClr val="D5C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5C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5C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5C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20" dirty="0">
                          <a:solidFill>
                            <a:srgbClr val="2B2A28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1</a:t>
                      </a:r>
                      <a:endParaRPr lang="en-US" sz="152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54864" marR="54864" marT="54864" marB="54864" anchor="mid">
                    <a:lnL w="10160" cap="flat" cmpd="sng" algn="ctr">
                      <a:solidFill>
                        <a:srgbClr val="D5C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5C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5C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5C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C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20" dirty="0">
                          <a:solidFill>
                            <a:srgbClr val="2B2A28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(1,1)</a:t>
                      </a:r>
                      <a:endParaRPr lang="en-US" sz="152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54864" marR="54864" marT="54864" marB="54864" anchor="mid">
                    <a:lnL w="10160" cap="flat" cmpd="sng" algn="ctr">
                      <a:solidFill>
                        <a:srgbClr val="D5C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5C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5C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5C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20" dirty="0">
                          <a:solidFill>
                            <a:srgbClr val="2B2A28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(1,1,1)</a:t>
                      </a:r>
                      <a:endParaRPr lang="en-US" sz="152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54864" marR="54864" marT="54864" marB="54864" anchor="mid">
                    <a:lnL w="10160" cap="flat" cmpd="sng" algn="ctr">
                      <a:solidFill>
                        <a:srgbClr val="D5C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5C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5C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5C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20" dirty="0">
                          <a:solidFill>
                            <a:srgbClr val="2B2A28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0</a:t>
                      </a:r>
                      <a:endParaRPr lang="en-US" sz="152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54864" marR="54864" marT="54864" marB="54864" anchor="mid">
                    <a:lnL w="10160" cap="flat" cmpd="sng" algn="ctr">
                      <a:solidFill>
                        <a:srgbClr val="D5C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5C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5C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5C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20" dirty="0">
                          <a:solidFill>
                            <a:srgbClr val="2B2A28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-2</a:t>
                      </a:r>
                      <a:endParaRPr lang="en-US" sz="152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54864" marR="54864" marT="54864" marB="54864" anchor="mid">
                    <a:lnL w="10160" cap="flat" cmpd="sng" algn="ctr">
                      <a:solidFill>
                        <a:srgbClr val="D5C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5C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5C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5C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20" dirty="0">
                          <a:solidFill>
                            <a:srgbClr val="2B2A28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0</a:t>
                      </a:r>
                      <a:endParaRPr lang="en-US" sz="152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54864" marR="54864" marT="54864" marB="54864" anchor="mid">
                    <a:lnL w="10160" cap="flat" cmpd="sng" algn="ctr">
                      <a:solidFill>
                        <a:srgbClr val="D5C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5C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5C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5C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C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822960" y="1737360"/>
            <a:ext cx="7909560" cy="621792"/>
          </a:xfrm>
          <a:prstGeom prst="rect">
            <a:avLst/>
          </a:prstGeom>
          <a:solidFill>
            <a:srgbClr val="23352D"/>
          </a:solidFill>
          <a:ln w="12700">
            <a:solidFill>
              <a:srgbClr val="23352D">
                <a:alpha val="0"/>
              </a:srgbClr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22960" y="1773936"/>
            <a:ext cx="1325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20" b="1" dirty="0">
                <a:solidFill>
                  <a:srgbClr val="FFFFFF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Entrada</a:t>
            </a:r>
            <a:endParaRPr lang="en-US" sz="1520" dirty="0"/>
          </a:p>
        </p:txBody>
      </p:sp>
      <p:sp>
        <p:nvSpPr>
          <p:cNvPr id="8" name="Text 5"/>
          <p:cNvSpPr/>
          <p:nvPr/>
        </p:nvSpPr>
        <p:spPr>
          <a:xfrm>
            <a:off x="2148840" y="1773936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20" b="1" dirty="0">
                <a:solidFill>
                  <a:srgbClr val="FFFFFF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φ(x)</a:t>
            </a:r>
            <a:endParaRPr lang="en-US" sz="1520" dirty="0"/>
          </a:p>
        </p:txBody>
      </p:sp>
      <p:sp>
        <p:nvSpPr>
          <p:cNvPr id="9" name="Text 6"/>
          <p:cNvSpPr/>
          <p:nvPr/>
        </p:nvSpPr>
        <p:spPr>
          <a:xfrm>
            <a:off x="4069080" y="1773936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20" b="1" dirty="0">
                <a:solidFill>
                  <a:srgbClr val="FFFFFF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Esperado</a:t>
            </a:r>
            <a:endParaRPr lang="en-US" sz="1520" dirty="0"/>
          </a:p>
        </p:txBody>
      </p:sp>
      <p:sp>
        <p:nvSpPr>
          <p:cNvPr id="10" name="Text 7"/>
          <p:cNvSpPr/>
          <p:nvPr/>
        </p:nvSpPr>
        <p:spPr>
          <a:xfrm>
            <a:off x="5486400" y="1773936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20" b="1" dirty="0">
                <a:solidFill>
                  <a:srgbClr val="FFFFFF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Puntuación</a:t>
            </a:r>
            <a:endParaRPr lang="en-US" sz="1520" dirty="0"/>
          </a:p>
        </p:txBody>
      </p:sp>
      <p:sp>
        <p:nvSpPr>
          <p:cNvPr id="11" name="Text 8"/>
          <p:cNvSpPr/>
          <p:nvPr/>
        </p:nvSpPr>
        <p:spPr>
          <a:xfrm>
            <a:off x="7132320" y="1773936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20" b="1" dirty="0">
                <a:solidFill>
                  <a:srgbClr val="FFFFFF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Obtenido</a:t>
            </a:r>
            <a:endParaRPr lang="en-US" sz="1520" dirty="0"/>
          </a:p>
        </p:txBody>
      </p:sp>
      <p:sp>
        <p:nvSpPr>
          <p:cNvPr id="12" name="Text 9"/>
          <p:cNvSpPr/>
          <p:nvPr/>
        </p:nvSpPr>
        <p:spPr>
          <a:xfrm>
            <a:off x="1005840" y="5330952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30" dirty="0">
                <a:solidFill>
                  <a:srgbClr val="716D65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Una puntuación negativa produce la clase 0; una puntuación positiva produce la clase 1.</a:t>
            </a:r>
            <a:endParaRPr lang="en-US" sz="1430" dirty="0"/>
          </a:p>
        </p:txBody>
      </p:sp>
      <p:sp>
        <p:nvSpPr>
          <p:cNvPr id="13" name="Shape 10"/>
          <p:cNvSpPr/>
          <p:nvPr/>
        </p:nvSpPr>
        <p:spPr>
          <a:xfrm>
            <a:off x="9308592" y="1298448"/>
            <a:ext cx="2377440" cy="4754880"/>
          </a:xfrm>
          <a:prstGeom prst="roundRect">
            <a:avLst>
              <a:gd name="adj" fmla="val 3077"/>
            </a:avLst>
          </a:prstGeom>
          <a:solidFill>
            <a:srgbClr val="23352D"/>
          </a:solidFill>
          <a:ln w="10160">
            <a:solidFill>
              <a:srgbClr val="23352D"/>
            </a:solidFill>
            <a:prstDash val="solid"/>
          </a:ln>
          <a:effectLst>
            <a:outerShdw sx="100000" sy="100000" kx="0" ky="0" algn="bl" rotWithShape="0" blurRad="15240" dist="50800" dir="2700000">
              <a:srgbClr val="9B958A">
                <a:alpha val="13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9491472" y="1993392"/>
            <a:ext cx="2011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900" b="1" dirty="0">
                <a:solidFill>
                  <a:srgbClr val="E3B65C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100%</a:t>
            </a:r>
            <a:endParaRPr lang="en-US" sz="4900" dirty="0"/>
          </a:p>
        </p:txBody>
      </p:sp>
      <p:sp>
        <p:nvSpPr>
          <p:cNvPr id="15" name="Text 12"/>
          <p:cNvSpPr/>
          <p:nvPr/>
        </p:nvSpPr>
        <p:spPr>
          <a:xfrm>
            <a:off x="9491472" y="292608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120" kern="0" dirty="0">
                <a:solidFill>
                  <a:srgbClr val="FFFFFF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EXACTITUD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9710928" y="3611880"/>
            <a:ext cx="1572768" cy="0"/>
          </a:xfrm>
          <a:prstGeom prst="line">
            <a:avLst/>
          </a:prstGeom>
          <a:noFill/>
          <a:ln w="12700">
            <a:solidFill>
              <a:srgbClr val="65746B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9555480" y="4005072"/>
            <a:ext cx="187452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DE3DF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4 de 4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dirty="0">
                <a:solidFill>
                  <a:srgbClr val="DDE3DF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combinaciones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dirty="0">
                <a:solidFill>
                  <a:srgbClr val="DDE3DF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correctas</a:t>
            </a:r>
            <a:endParaRPr lang="en-US" sz="1800" dirty="0"/>
          </a:p>
        </p:txBody>
      </p:sp>
      <p:sp>
        <p:nvSpPr>
          <p:cNvPr id="18" name="Text 15"/>
          <p:cNvSpPr/>
          <p:nvPr/>
        </p:nvSpPr>
        <p:spPr>
          <a:xfrm>
            <a:off x="411480" y="6437376"/>
            <a:ext cx="4754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716D65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Programación avanzada  ·  Perceptrón XOR</a:t>
            </a:r>
            <a:endParaRPr lang="en-US" sz="920" dirty="0"/>
          </a:p>
        </p:txBody>
      </p:sp>
      <p:sp>
        <p:nvSpPr>
          <p:cNvPr id="19" name="Shape 16"/>
          <p:cNvSpPr/>
          <p:nvPr/>
        </p:nvSpPr>
        <p:spPr>
          <a:xfrm>
            <a:off x="411480" y="6318504"/>
            <a:ext cx="11356848" cy="0"/>
          </a:xfrm>
          <a:prstGeom prst="line">
            <a:avLst/>
          </a:prstGeom>
          <a:noFill/>
          <a:ln w="8890">
            <a:solidFill>
              <a:srgbClr val="D5CEC2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31168" y="6455664"/>
            <a:ext cx="256032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16D65"/>
                </a:solidFill>
                <a:latin typeface="Lato"/>
                <a:ea typeface="Lato"/>
                <a:cs typeface="Lato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2335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5303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30" kern="0" dirty="0">
                <a:solidFill>
                  <a:srgbClr val="E3B65C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9 · CIERRE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10881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Conclusiones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621792" y="1389888"/>
            <a:ext cx="6492240" cy="4434840"/>
          </a:xfrm>
          <a:prstGeom prst="roundRect">
            <a:avLst>
              <a:gd name="adj" fmla="val 1649"/>
            </a:avLst>
          </a:prstGeom>
          <a:solidFill>
            <a:srgbClr val="31463C"/>
          </a:solidFill>
          <a:ln w="10160">
            <a:solidFill>
              <a:srgbClr val="53665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7552" y="1897380"/>
            <a:ext cx="96012" cy="96012"/>
          </a:xfrm>
          <a:prstGeom prst="ellipse">
            <a:avLst/>
          </a:prstGeom>
          <a:solidFill>
            <a:srgbClr val="D97745"/>
          </a:solidFill>
          <a:ln w="12700">
            <a:solidFill>
              <a:srgbClr val="D97745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97864" y="1810512"/>
            <a:ext cx="55504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XOR no es linealmente separable usando únicamente x₁ y x₂.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987552" y="2756916"/>
            <a:ext cx="96012" cy="96012"/>
          </a:xfrm>
          <a:prstGeom prst="ellipse">
            <a:avLst/>
          </a:prstGeom>
          <a:solidFill>
            <a:srgbClr val="E3B65C"/>
          </a:solidFill>
          <a:ln w="12700">
            <a:solidFill>
              <a:srgbClr val="E3B65C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97864" y="2670048"/>
            <a:ext cx="55504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El término x₁x₂ agrega la interacción necesaria y lleva los datos a 3D.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987552" y="3726180"/>
            <a:ext cx="96012" cy="96012"/>
          </a:xfrm>
          <a:prstGeom prst="ellipse">
            <a:avLst/>
          </a:prstGeom>
          <a:solidFill>
            <a:srgbClr val="2F6F6D"/>
          </a:solidFill>
          <a:ln w="12700">
            <a:solidFill>
              <a:srgbClr val="2F6F6D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97864" y="3639312"/>
            <a:ext cx="555040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El perceptrón converge en 12 épocas con w=(2,2,-5) y b=-1.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987552" y="4613148"/>
            <a:ext cx="96012" cy="96012"/>
          </a:xfrm>
          <a:prstGeom prst="ellipse">
            <a:avLst/>
          </a:prstGeom>
          <a:solidFill>
            <a:srgbClr val="A7B39C"/>
          </a:solidFill>
          <a:ln w="12700">
            <a:solidFill>
              <a:srgbClr val="A7B39C">
                <a:alpha val="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97864" y="4526280"/>
            <a:ext cx="555040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El plano obtenido clasifica correctamente las cuatro salidas de XOR.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7406640" y="1389888"/>
            <a:ext cx="4160520" cy="4434840"/>
          </a:xfrm>
          <a:prstGeom prst="roundRect">
            <a:avLst>
              <a:gd name="adj" fmla="val 1758"/>
            </a:avLst>
          </a:prstGeom>
          <a:solidFill>
            <a:srgbClr val="F6F1E8"/>
          </a:solidFill>
          <a:ln w="10160">
            <a:solidFill>
              <a:srgbClr val="F6F1E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818120" y="1783080"/>
            <a:ext cx="1783080" cy="310896"/>
          </a:xfrm>
          <a:prstGeom prst="roundRect">
            <a:avLst>
              <a:gd name="adj" fmla="val 23529"/>
            </a:avLst>
          </a:prstGeom>
          <a:solidFill>
            <a:srgbClr val="D97745"/>
          </a:solidFill>
          <a:ln w="12700">
            <a:solidFill>
              <a:srgbClr val="D97745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818120" y="1787652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ARCHIVO DE CÓDIGO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818120" y="2359152"/>
            <a:ext cx="3337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3352D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perceptron_xor.js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7818120" y="3063240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716D65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Ejecución</a:t>
            </a:r>
            <a:endParaRPr lang="en-US" sz="1550" dirty="0"/>
          </a:p>
        </p:txBody>
      </p:sp>
      <p:sp>
        <p:nvSpPr>
          <p:cNvPr id="18" name="Shape 16"/>
          <p:cNvSpPr/>
          <p:nvPr/>
        </p:nvSpPr>
        <p:spPr>
          <a:xfrm>
            <a:off x="7909560" y="3493008"/>
            <a:ext cx="3154680" cy="667512"/>
          </a:xfrm>
          <a:prstGeom prst="roundRect">
            <a:avLst>
              <a:gd name="adj" fmla="val 6849"/>
            </a:avLst>
          </a:prstGeom>
          <a:solidFill>
            <a:srgbClr val="2B2A28"/>
          </a:solidFill>
          <a:ln w="12700">
            <a:solidFill>
              <a:srgbClr val="2B2A2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019288" y="3694176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node perceptron_xor.js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7936992" y="4617720"/>
            <a:ext cx="30906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50" dirty="0">
                <a:solidFill>
                  <a:srgbClr val="716D65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El programa imprime las épocas, pesos, sesgo, puntuaciones y exactitud final.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7818120" y="5349240"/>
            <a:ext cx="3337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97745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Gracias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411480" y="6437376"/>
            <a:ext cx="4754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D9DED7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Programación avanzada  ·  Perceptrón XOR</a:t>
            </a:r>
            <a:endParaRPr lang="en-US" sz="920" dirty="0"/>
          </a:p>
        </p:txBody>
      </p:sp>
      <p:sp>
        <p:nvSpPr>
          <p:cNvPr id="23" name="Shape 21"/>
          <p:cNvSpPr/>
          <p:nvPr/>
        </p:nvSpPr>
        <p:spPr>
          <a:xfrm>
            <a:off x="411480" y="6318504"/>
            <a:ext cx="11356848" cy="0"/>
          </a:xfrm>
          <a:prstGeom prst="line">
            <a:avLst/>
          </a:prstGeom>
          <a:noFill/>
          <a:ln w="8890">
            <a:solidFill>
              <a:srgbClr val="65746B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31168" y="6455664"/>
            <a:ext cx="256032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16D65"/>
                </a:solidFill>
                <a:latin typeface="Lato"/>
                <a:ea typeface="Lato"/>
                <a:cs typeface="Lato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Lato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Universidad Autónoma del Carmen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Perceptrón para la compuerta XOR</dc:title>
  <dc:subject>Perceptrón aplicado a XOR mediante ingeniería de características</dc:subject>
  <dc:creator>Gabriel Ernesto González Palomo, Carlos Rafael Mendez Gonzalez y Rosendo Maximiliano Rodriguez Alvarado</dc:creator>
  <cp:lastModifiedBy>Gabriel Ernesto González Palomo, Carlos Rafael Mendez Gonzalez y Rosendo Maximiliano Rodriguez Alvarado</cp:lastModifiedBy>
  <cp:revision>1</cp:revision>
  <dcterms:created xsi:type="dcterms:W3CDTF">2026-07-11T21:46:53Z</dcterms:created>
  <dcterms:modified xsi:type="dcterms:W3CDTF">2026-07-11T21:46:53Z</dcterms:modified>
</cp:coreProperties>
</file>