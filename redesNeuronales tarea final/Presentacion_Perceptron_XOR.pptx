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3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192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0425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6D65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6D65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3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30768" y="0"/>
            <a:ext cx="3657600" cy="3657600"/>
          </a:xfrm>
          <a:prstGeom prst="ellipse">
            <a:avLst/>
          </a:prstGeom>
          <a:solidFill>
            <a:srgbClr val="D97745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464040" y="2359152"/>
            <a:ext cx="2606040" cy="2606040"/>
          </a:xfrm>
          <a:prstGeom prst="ellipse">
            <a:avLst/>
          </a:prstGeom>
          <a:solidFill>
            <a:srgbClr val="E3B65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73568" y="3547872"/>
            <a:ext cx="2331720" cy="2331720"/>
          </a:xfrm>
          <a:prstGeom prst="ellipse">
            <a:avLst/>
          </a:prstGeom>
          <a:solidFill>
            <a:srgbClr val="2F6F6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45552" y="1051560"/>
            <a:ext cx="3794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0" b="1" dirty="0">
                <a:solidFill>
                  <a:srgbClr val="FFFFFF">
                    <a:alpha val="96000"/>
                  </a:srgbClr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XOR</a:t>
            </a:r>
            <a:endParaRPr lang="en-US" sz="94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40" dirty="0">
                <a:solidFill>
                  <a:srgbClr val="E3B65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PERCEPTRÓN + INGENIERÍA DE CARACTERÍSTICAS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1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Perceptrón para la</a:t>
            </a:r>
            <a:endParaRPr lang="en-US" sz="4100" dirty="0"/>
          </a:p>
          <a:p>
            <a:pPr marL="0" indent="0">
              <a:buNone/>
            </a:pPr>
            <a:r>
              <a:rPr lang="en-US" sz="41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compuerta XOR</a:t>
            </a:r>
            <a:endParaRPr lang="en-US" sz="4100" dirty="0"/>
          </a:p>
        </p:txBody>
      </p:sp>
      <p:sp>
        <p:nvSpPr>
          <p:cNvPr id="8" name="Text 6"/>
          <p:cNvSpPr/>
          <p:nvPr/>
        </p:nvSpPr>
        <p:spPr>
          <a:xfrm>
            <a:off x="621792" y="2788920"/>
            <a:ext cx="5989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9DED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Kernel polinomial de grado 2 mediante un mapeo explícito al espacio tridimensional.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21792" y="3767328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D97745"/>
          </a:solidFill>
          <a:ln w="12700">
            <a:solidFill>
              <a:srgbClr val="D977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37719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PROGRAMACIÓN AVANZADA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" y="4315968"/>
            <a:ext cx="6629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Gabriel Ernesto González Palomo</a:t>
            </a:r>
            <a:r>
              <a:rPr lang="en-US" sz="142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·  190468
</a:t>
            </a:r>
            <a:r>
              <a:rPr lang="en-US" sz="142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Carlos Rafael Mendez Gonzalez</a:t>
            </a:r>
            <a:r>
              <a:rPr lang="en-US" sz="142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·  191209
</a:t>
            </a:r>
            <a:r>
              <a:rPr lang="en-US" sz="142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Rosendo Maximiliano Rodriguez Alvarado</a:t>
            </a:r>
            <a:r>
              <a:rPr lang="en-US" sz="142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·  190254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21792" y="5715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0C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Profesor: Jesus Alejandro Flores Hernandez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01000" y="59893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3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Universidad Autónoma del Carmen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6D65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D977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 · PLANTEAMIENTO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3352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El problema: XOR alterna las clases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617720" cy="4553712"/>
          </a:xfrm>
          <a:prstGeom prst="roundRect">
            <a:avLst>
              <a:gd name="adj" fmla="val 1606"/>
            </a:avLst>
          </a:prstGeom>
          <a:solidFill>
            <a:srgbClr val="FFFDFC"/>
          </a:solidFill>
          <a:ln w="10160">
            <a:solidFill>
              <a:srgbClr val="D5CEC2"/>
            </a:solidFill>
            <a:prstDash val="solid"/>
          </a:ln>
          <a:effectLst>
            <a:outerShdw blurRad="15240" dist="50800" dir="2700000" algn="bl" rotWithShape="0">
              <a:srgbClr val="9B958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737360"/>
          <a:ext cx="3749040" cy="31089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x₁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x₂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XOR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96112" y="1737360"/>
            <a:ext cx="3749040" cy="621792"/>
          </a:xfrm>
          <a:prstGeom prst="rect">
            <a:avLst/>
          </a:prstGeom>
          <a:solidFill>
            <a:srgbClr val="23352D"/>
          </a:solidFill>
          <a:ln w="12700">
            <a:solidFill>
              <a:srgbClr val="2335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17647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x₁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084832" y="17647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73552" y="176479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XOR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2688" y="50840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716D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salida vale 1 únicamente cuando las entradas son diferentes.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413248" y="1298448"/>
            <a:ext cx="6272784" cy="4553712"/>
          </a:xfrm>
          <a:prstGeom prst="roundRect">
            <a:avLst>
              <a:gd name="adj" fmla="val 1606"/>
            </a:avLst>
          </a:prstGeom>
          <a:solidFill>
            <a:srgbClr val="EEF2EC"/>
          </a:solidFill>
          <a:ln w="10160">
            <a:solidFill>
              <a:srgbClr val="D5CEC2"/>
            </a:solidFill>
            <a:prstDash val="solid"/>
          </a:ln>
          <a:effectLst>
            <a:outerShdw blurRad="15240" dist="50800" dir="2700000" algn="bl" rotWithShape="0">
              <a:srgbClr val="9B958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0644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352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Salida esperada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89320" y="2395728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D97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89320" y="25420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A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 XOR  0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989320" y="288950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77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= 0</a:t>
            </a:r>
            <a:endParaRPr lang="en-US" sz="2300" dirty="0"/>
          </a:p>
        </p:txBody>
      </p:sp>
      <p:sp>
        <p:nvSpPr>
          <p:cNvPr id="16" name="Shape 13"/>
          <p:cNvSpPr/>
          <p:nvPr/>
        </p:nvSpPr>
        <p:spPr>
          <a:xfrm>
            <a:off x="8412480" y="2395728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2F6F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12480" y="254203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A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 XOR  1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412480" y="288950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F6F6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= 1</a:t>
            </a:r>
            <a:endParaRPr lang="en-US" sz="2300" dirty="0"/>
          </a:p>
        </p:txBody>
      </p:sp>
      <p:sp>
        <p:nvSpPr>
          <p:cNvPr id="19" name="Shape 16"/>
          <p:cNvSpPr/>
          <p:nvPr/>
        </p:nvSpPr>
        <p:spPr>
          <a:xfrm>
            <a:off x="5989320" y="4096512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2F6F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89320" y="42428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A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 XOR  0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989320" y="45902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F6F6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= 1</a:t>
            </a:r>
            <a:endParaRPr lang="en-US" sz="2300" dirty="0"/>
          </a:p>
        </p:txBody>
      </p:sp>
      <p:sp>
        <p:nvSpPr>
          <p:cNvPr id="22" name="Shape 19"/>
          <p:cNvSpPr/>
          <p:nvPr/>
        </p:nvSpPr>
        <p:spPr>
          <a:xfrm>
            <a:off x="8412480" y="4096512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D97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412480" y="42428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B2A2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  XOR  1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412480" y="45902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977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= 0</a:t>
            </a:r>
            <a:endParaRPr lang="en-US" sz="2300" dirty="0"/>
          </a:p>
        </p:txBody>
      </p:sp>
      <p:sp>
        <p:nvSpPr>
          <p:cNvPr id="25" name="Text 22"/>
          <p:cNvSpPr/>
          <p:nvPr/>
        </p:nvSpPr>
        <p:spPr>
          <a:xfrm>
            <a:off x="5806440" y="5358384"/>
            <a:ext cx="5440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716D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patrón diagonal es la razón por la que una frontera lineal en 2D no basta.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411480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16D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Programación avanzada  ·  Perceptrón XOR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411480" y="6318504"/>
            <a:ext cx="11356848" cy="0"/>
          </a:xfrm>
          <a:prstGeom prst="line">
            <a:avLst/>
          </a:prstGeom>
          <a:noFill/>
          <a:ln w="8890">
            <a:solidFill>
              <a:srgbClr val="D5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6D65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D977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 · LIMITACIÓN LINEAL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3352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 perceptrón simple no puede separar XOR en 2D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754380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0160">
            <a:solidFill>
              <a:srgbClr val="D5CEC2"/>
            </a:solidFill>
            <a:prstDash val="solid"/>
          </a:ln>
          <a:effectLst>
            <a:outerShdw blurRad="15240" dist="50800" dir="2700000" algn="bl" rotWithShape="0">
              <a:srgbClr val="9B958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work_xor/assets/xor_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152" y="1481328"/>
            <a:ext cx="5618480" cy="43342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02752" y="1298448"/>
            <a:ext cx="3383280" cy="4754880"/>
          </a:xfrm>
          <a:prstGeom prst="roundRect">
            <a:avLst>
              <a:gd name="adj" fmla="val 2162"/>
            </a:avLst>
          </a:prstGeom>
          <a:solidFill>
            <a:srgbClr val="23352D"/>
          </a:solidFill>
          <a:ln w="10160">
            <a:solidFill>
              <a:srgbClr val="23352D"/>
            </a:solidFill>
            <a:prstDash val="solid"/>
          </a:ln>
          <a:effectLst>
            <a:outerShdw blurRad="15240" dist="50800" dir="2700000" algn="bl" rotWithShape="0">
              <a:srgbClr val="9B958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68512" y="167335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E3B65C"/>
          </a:solidFill>
          <a:ln w="12700">
            <a:solidFill>
              <a:srgbClr val="E3B6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68512" y="16779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5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REGLA LINEAL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41080" y="224028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 = w₁x₁ + w₂x₂ + b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668512" y="3086100"/>
            <a:ext cx="96012" cy="96012"/>
          </a:xfrm>
          <a:prstGeom prst="ellipse">
            <a:avLst/>
          </a:prstGeom>
          <a:solidFill>
            <a:srgbClr val="D97745"/>
          </a:solidFill>
          <a:ln w="12700">
            <a:solidFill>
              <a:srgbClr val="D977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878824" y="2999232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E7EAE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perceptrón dibuja una recta como frontera de decisión.</a:t>
            </a:r>
            <a:endParaRPr lang="en-US" sz="1520" dirty="0"/>
          </a:p>
        </p:txBody>
      </p:sp>
      <p:sp>
        <p:nvSpPr>
          <p:cNvPr id="12" name="Shape 9"/>
          <p:cNvSpPr/>
          <p:nvPr/>
        </p:nvSpPr>
        <p:spPr>
          <a:xfrm>
            <a:off x="8668512" y="3963924"/>
            <a:ext cx="96012" cy="96012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878824" y="3877056"/>
            <a:ext cx="2459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E7EAE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XOR, cada clase ocupa esquinas opuestas.</a:t>
            </a:r>
            <a:endParaRPr lang="en-US" sz="1520" dirty="0"/>
          </a:p>
        </p:txBody>
      </p:sp>
      <p:sp>
        <p:nvSpPr>
          <p:cNvPr id="14" name="Shape 11"/>
          <p:cNvSpPr/>
          <p:nvPr/>
        </p:nvSpPr>
        <p:spPr>
          <a:xfrm>
            <a:off x="8668512" y="4796028"/>
            <a:ext cx="96012" cy="96012"/>
          </a:xfrm>
          <a:prstGeom prst="ellipse">
            <a:avLst/>
          </a:prstGeom>
          <a:solidFill>
            <a:srgbClr val="2F6F6D"/>
          </a:solidFill>
          <a:ln w="12700">
            <a:solidFill>
              <a:srgbClr val="2F6F6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878824" y="4709160"/>
            <a:ext cx="2459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E7EAE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Necesitamos transformar los datos antes de entrenar.</a:t>
            </a:r>
            <a:endParaRPr lang="en-US" sz="1520" dirty="0"/>
          </a:p>
        </p:txBody>
      </p:sp>
      <p:sp>
        <p:nvSpPr>
          <p:cNvPr id="16" name="Text 13"/>
          <p:cNvSpPr/>
          <p:nvPr/>
        </p:nvSpPr>
        <p:spPr>
          <a:xfrm>
            <a:off x="411480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16D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Programación avanzada  ·  Perceptrón XOR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411480" y="6318504"/>
            <a:ext cx="11356848" cy="0"/>
          </a:xfrm>
          <a:prstGeom prst="line">
            <a:avLst/>
          </a:prstGeom>
          <a:noFill/>
          <a:ln w="8890">
            <a:solidFill>
              <a:srgbClr val="D5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6D65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3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E3B65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 · KERNEL POLINOMIAL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 llave: agregar la interacción x₁x₂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30352" y="1389888"/>
            <a:ext cx="4800600" cy="4453128"/>
          </a:xfrm>
          <a:prstGeom prst="roundRect">
            <a:avLst>
              <a:gd name="adj" fmla="val 1643"/>
            </a:avLst>
          </a:prstGeom>
          <a:solidFill>
            <a:srgbClr val="31463C"/>
          </a:solidFill>
          <a:ln w="10160">
            <a:solidFill>
              <a:srgbClr val="536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764792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D97745"/>
          </a:solidFill>
          <a:ln w="12700">
            <a:solidFill>
              <a:srgbClr val="D977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76936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KERNEL ELEGIDO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22494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Polinomial de grado 2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96112" y="2852928"/>
            <a:ext cx="38862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DDE3D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Usamos un mapeo explícito. En lugar de calcular el kernel de forma implícita, construimos directamente una nueva coordenada:</a:t>
            </a:r>
            <a:endParaRPr lang="en-US" sz="1620" dirty="0"/>
          </a:p>
        </p:txBody>
      </p:sp>
      <p:sp>
        <p:nvSpPr>
          <p:cNvPr id="9" name="Shape 7"/>
          <p:cNvSpPr/>
          <p:nvPr/>
        </p:nvSpPr>
        <p:spPr>
          <a:xfrm>
            <a:off x="896112" y="4041648"/>
            <a:ext cx="3931920" cy="841248"/>
          </a:xfrm>
          <a:prstGeom prst="roundRect">
            <a:avLst>
              <a:gd name="adj" fmla="val 7609"/>
            </a:avLst>
          </a:prstGeom>
          <a:solidFill>
            <a:srgbClr val="F6F1E8"/>
          </a:solidFill>
          <a:ln w="16510">
            <a:solidFill>
              <a:srgbClr val="E3B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421538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335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φ(x₁,x₂) = (x₁, x₂, x₁x₂)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96112" y="514807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i="1" dirty="0">
                <a:solidFill>
                  <a:srgbClr val="C7D0C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Para entradas binarias, el término de interacción x₁x₂ es suficiente para resolver XOR.</a:t>
            </a:r>
            <a:endParaRPr lang="en-US" sz="1460" dirty="0"/>
          </a:p>
        </p:txBody>
      </p:sp>
      <p:sp>
        <p:nvSpPr>
          <p:cNvPr id="12" name="Text 10"/>
          <p:cNvSpPr/>
          <p:nvPr/>
        </p:nvSpPr>
        <p:spPr>
          <a:xfrm>
            <a:off x="5715000" y="1691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Espacio original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15000" y="214884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3C5147"/>
          </a:solidFill>
          <a:ln w="13970">
            <a:solidFill>
              <a:srgbClr val="A7B3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15000" y="25420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(x₁, x₂)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543800" y="2542032"/>
            <a:ext cx="960120" cy="594360"/>
          </a:xfrm>
          <a:prstGeom prst="chevron">
            <a:avLst/>
          </a:prstGeom>
          <a:solidFill>
            <a:srgbClr val="E3B65C"/>
          </a:solidFill>
          <a:ln w="12700">
            <a:solidFill>
              <a:srgbClr val="E3B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90104" y="2587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335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φ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68512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Espacio transformado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68512" y="21488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6F1E8"/>
          </a:solidFill>
          <a:ln w="17780">
            <a:solidFill>
              <a:srgbClr val="D97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59952" y="25420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335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(x₁, x₂, x₁x₂)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5715000" y="4370832"/>
            <a:ext cx="5422392" cy="0"/>
          </a:xfrm>
          <a:prstGeom prst="line">
            <a:avLst/>
          </a:prstGeom>
          <a:noFill/>
          <a:ln w="12700">
            <a:solidFill>
              <a:srgbClr val="6574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06440" y="4681728"/>
            <a:ext cx="5166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20" dirty="0">
                <a:solidFill>
                  <a:srgbClr val="E7EAE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frontera sigue siendo lineal para el perceptrón, pero ahora vive en 3D y toma la forma de un plano.</a:t>
            </a:r>
            <a:endParaRPr lang="en-US" sz="1720" dirty="0"/>
          </a:p>
        </p:txBody>
      </p:sp>
      <p:sp>
        <p:nvSpPr>
          <p:cNvPr id="22" name="Text 20"/>
          <p:cNvSpPr/>
          <p:nvPr/>
        </p:nvSpPr>
        <p:spPr>
          <a:xfrm>
            <a:off x="411480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9DED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Programación avanzada  ·  Perceptrón XOR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11480" y="6318504"/>
            <a:ext cx="11356848" cy="0"/>
          </a:xfrm>
          <a:prstGeom prst="line">
            <a:avLst/>
          </a:prstGeom>
          <a:noFill/>
          <a:ln w="8890">
            <a:solidFill>
              <a:srgbClr val="6574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6D65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D977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 · NUEVO ESPACIO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3352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Los cuatro puntos después de la transformación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650992" cy="4736592"/>
          </a:xfrm>
          <a:prstGeom prst="roundRect">
            <a:avLst>
              <a:gd name="adj" fmla="val 1544"/>
            </a:avLst>
          </a:prstGeom>
          <a:solidFill>
            <a:srgbClr val="FFFDFC"/>
          </a:solidFill>
          <a:ln w="10160">
            <a:solidFill>
              <a:srgbClr val="D5CEC2"/>
            </a:solidFill>
            <a:prstDash val="solid"/>
          </a:ln>
          <a:effectLst>
            <a:outerShdw blurRad="15240" dist="50800" dir="2700000" algn="bl" rotWithShape="0">
              <a:srgbClr val="9B958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719072"/>
          <a:ext cx="5212080" cy="324612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x₁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x₂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x₃ = x₁x₂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XOR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868680" y="1719072"/>
            <a:ext cx="5212080" cy="566928"/>
          </a:xfrm>
          <a:prstGeom prst="rect">
            <a:avLst/>
          </a:prstGeom>
          <a:solidFill>
            <a:srgbClr val="23352D"/>
          </a:solidFill>
          <a:ln w="12700">
            <a:solidFill>
              <a:srgbClr val="2335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746504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x₁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20240" y="1746504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971800" y="1746504"/>
            <a:ext cx="2057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x₃ = x₁x₂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0" y="1746504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XOR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52120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70" dirty="0">
                <a:solidFill>
                  <a:srgbClr val="716D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 nueva coordenada solo vale 1 para la entrada (1,1). Ese pequeño cambio reorganiza la geometría del problema.</a:t>
            </a:r>
            <a:endParaRPr lang="en-US" sz="1470" dirty="0"/>
          </a:p>
        </p:txBody>
      </p:sp>
      <p:sp>
        <p:nvSpPr>
          <p:cNvPr id="12" name="Shape 9"/>
          <p:cNvSpPr/>
          <p:nvPr/>
        </p:nvSpPr>
        <p:spPr>
          <a:xfrm>
            <a:off x="6419088" y="1298448"/>
            <a:ext cx="5266944" cy="4736592"/>
          </a:xfrm>
          <a:prstGeom prst="roundRect">
            <a:avLst>
              <a:gd name="adj" fmla="val 1544"/>
            </a:avLst>
          </a:prstGeom>
          <a:solidFill>
            <a:srgbClr val="EEF2EC"/>
          </a:solidFill>
          <a:ln w="10160">
            <a:solidFill>
              <a:srgbClr val="D5CEC2"/>
            </a:solidFill>
            <a:prstDash val="solid"/>
          </a:ln>
          <a:effectLst>
            <a:outerShdw blurRad="15240" dist="50800" dir="2700000" algn="bl" rotWithShape="0">
              <a:srgbClr val="9B958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0" descr="/mnt/data/work_xor/assets/transformed_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267" y="1609344"/>
            <a:ext cx="4104586" cy="39776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119872" y="539496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2F6F6D"/>
          </a:solidFill>
          <a:ln w="12700">
            <a:solidFill>
              <a:srgbClr val="2F6F6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119872" y="53995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 DIMENSIONES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967728" y="5769864"/>
            <a:ext cx="4169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dirty="0">
                <a:solidFill>
                  <a:srgbClr val="2335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Ahora es posible separar las clases con un plano.</a:t>
            </a:r>
            <a:endParaRPr lang="en-US" sz="1420" dirty="0"/>
          </a:p>
        </p:txBody>
      </p:sp>
      <p:sp>
        <p:nvSpPr>
          <p:cNvPr id="17" name="Text 13"/>
          <p:cNvSpPr/>
          <p:nvPr/>
        </p:nvSpPr>
        <p:spPr>
          <a:xfrm>
            <a:off x="411480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16D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Programación avanzada  ·  Perceptrón XOR</a:t>
            </a:r>
            <a:endParaRPr lang="en-US" sz="920" dirty="0"/>
          </a:p>
        </p:txBody>
      </p:sp>
      <p:sp>
        <p:nvSpPr>
          <p:cNvPr id="18" name="Shape 14"/>
          <p:cNvSpPr/>
          <p:nvPr/>
        </p:nvSpPr>
        <p:spPr>
          <a:xfrm>
            <a:off x="411480" y="6318504"/>
            <a:ext cx="11356848" cy="0"/>
          </a:xfrm>
          <a:prstGeom prst="line">
            <a:avLst/>
          </a:prstGeom>
          <a:noFill/>
          <a:ln w="8890">
            <a:solidFill>
              <a:srgbClr val="D5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6D65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D977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 · ALGORITMO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3352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Entrenamiento del perceptrón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794760" cy="4754880"/>
          </a:xfrm>
          <a:prstGeom prst="roundRect">
            <a:avLst>
              <a:gd name="adj" fmla="val 1928"/>
            </a:avLst>
          </a:prstGeom>
          <a:solidFill>
            <a:srgbClr val="23352D"/>
          </a:solidFill>
          <a:ln w="10160">
            <a:solidFill>
              <a:srgbClr val="23352D"/>
            </a:solidFill>
            <a:prstDash val="solid"/>
          </a:ln>
          <a:effectLst>
            <a:outerShdw blurRad="15240" dist="50800" dir="2700000" algn="bl" rotWithShape="0">
              <a:srgbClr val="9B958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664208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E3B65C"/>
          </a:solidFill>
          <a:ln w="12700">
            <a:solidFill>
              <a:srgbClr val="E3B6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6687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5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REGLA DE DECISIÓN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0392" y="2212848"/>
            <a:ext cx="3090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 = w · φ(x) + 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69848" y="2880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E3D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Clase 1 si s ≥ 0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DDE3D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Clase 0 si s &lt; 0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931920"/>
            <a:ext cx="2944368" cy="0"/>
          </a:xfrm>
          <a:prstGeom prst="line">
            <a:avLst/>
          </a:prstGeom>
          <a:noFill/>
          <a:ln w="12700">
            <a:solidFill>
              <a:srgbClr val="6574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65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Etiquetas de entrenamiento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46268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 → -1      1 → +1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530352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dirty="0">
                <a:solidFill>
                  <a:srgbClr val="C7D0C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Tasa de aprendizaje η = 1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4572000" y="1298448"/>
            <a:ext cx="7114032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0160">
            <a:solidFill>
              <a:srgbClr val="D5CEC2"/>
            </a:solidFill>
            <a:prstDash val="solid"/>
          </a:ln>
          <a:effectLst>
            <a:outerShdw blurRad="15240" dist="50800" dir="2700000" algn="bl" rotWithShape="0">
              <a:srgbClr val="9B958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56048" y="16642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352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Pseudocódigo usado en JavaScript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937760" y="2130552"/>
            <a:ext cx="6355080" cy="2926080"/>
          </a:xfrm>
          <a:prstGeom prst="roundRect">
            <a:avLst>
              <a:gd name="adj" fmla="val 1875"/>
            </a:avLst>
          </a:prstGeom>
          <a:solidFill>
            <a:srgbClr val="F0EEE8"/>
          </a:solidFill>
          <a:ln w="11430">
            <a:solidFill>
              <a:srgbClr val="D5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85232" y="2395728"/>
            <a:ext cx="5669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2B2A2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para cada época: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2B2A2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actualizaciones = 0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2B2A2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para cada muestra (x, y):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2B2A2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z = φ(x₁, x₂)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2B2A2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 = w · z + b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2B2A2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si y · s ≤ 0: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2B2A2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w = w + η · y · z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2B2A2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b = b + η · y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2B2A2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actualizaciones++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2B2A2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detener si actualizaciones = 0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5074920" y="5285232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10" dirty="0">
                <a:solidFill>
                  <a:srgbClr val="716D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 actualiza también cuando el punto cae exactamente sobre la frontera, lo que evita terminar con ejemplos ambiguos.</a:t>
            </a:r>
            <a:endParaRPr lang="en-US" sz="1410" dirty="0"/>
          </a:p>
        </p:txBody>
      </p:sp>
      <p:sp>
        <p:nvSpPr>
          <p:cNvPr id="18" name="Text 16"/>
          <p:cNvSpPr/>
          <p:nvPr/>
        </p:nvSpPr>
        <p:spPr>
          <a:xfrm>
            <a:off x="411480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16D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Programación avanzada  ·  Perceptrón XOR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11480" y="6318504"/>
            <a:ext cx="11356848" cy="0"/>
          </a:xfrm>
          <a:prstGeom prst="line">
            <a:avLst/>
          </a:prstGeom>
          <a:noFill/>
          <a:ln w="8890">
            <a:solidFill>
              <a:srgbClr val="D5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6D65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D977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6 · RESULTADOS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3352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El entrenamiento converge y produce un plano propio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67208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0160">
            <a:solidFill>
              <a:srgbClr val="D5CEC2"/>
            </a:solidFill>
            <a:prstDash val="solid"/>
          </a:ln>
          <a:effectLst>
            <a:outerShdw blurRad="15240" dist="50800" dir="2700000" algn="bl" rotWithShape="0">
              <a:srgbClr val="9B958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6459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3352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Actualizaciones por época</a:t>
            </a:r>
            <a:endParaRPr lang="en-US" sz="1700" dirty="0"/>
          </a:p>
        </p:txBody>
      </p:sp>
      <p:pic>
        <p:nvPicPr>
          <p:cNvPr id="6" name="Image 0" descr="/mnt/data/work_xor/assets/training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09" y="1938528"/>
            <a:ext cx="6174486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54132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dirty="0">
                <a:solidFill>
                  <a:srgbClr val="716D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 la época 12 ya no ocurre ninguna actualización.</a:t>
            </a:r>
            <a:endParaRPr lang="en-US" sz="1420" dirty="0"/>
          </a:p>
        </p:txBody>
      </p:sp>
      <p:sp>
        <p:nvSpPr>
          <p:cNvPr id="8" name="Shape 5"/>
          <p:cNvSpPr/>
          <p:nvPr/>
        </p:nvSpPr>
        <p:spPr>
          <a:xfrm>
            <a:off x="7479792" y="1298448"/>
            <a:ext cx="4206240" cy="4754880"/>
          </a:xfrm>
          <a:prstGeom prst="roundRect">
            <a:avLst>
              <a:gd name="adj" fmla="val 1739"/>
            </a:avLst>
          </a:prstGeom>
          <a:solidFill>
            <a:srgbClr val="23352D"/>
          </a:solidFill>
          <a:ln w="10160">
            <a:solidFill>
              <a:srgbClr val="23352D"/>
            </a:solidFill>
            <a:prstDash val="solid"/>
          </a:ln>
          <a:effectLst>
            <a:outerShdw blurRad="15240" dist="50800" dir="2700000" algn="bl" rotWithShape="0">
              <a:srgbClr val="9B958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845552" y="1673352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D97745"/>
          </a:solidFill>
          <a:ln w="12700">
            <a:solidFill>
              <a:srgbClr val="D977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845552" y="16779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PARÁMETROS FINALES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01000" y="233172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E3D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w₁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0" y="2286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Shape 10"/>
          <p:cNvSpPr/>
          <p:nvPr/>
        </p:nvSpPr>
        <p:spPr>
          <a:xfrm>
            <a:off x="8001000" y="2752344"/>
            <a:ext cx="2834640" cy="0"/>
          </a:xfrm>
          <a:prstGeom prst="line">
            <a:avLst/>
          </a:prstGeom>
          <a:noFill/>
          <a:ln w="8890">
            <a:solidFill>
              <a:srgbClr val="566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001000" y="291693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E3D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w₂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0" y="2871216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2500" dirty="0"/>
          </a:p>
        </p:txBody>
      </p:sp>
      <p:sp>
        <p:nvSpPr>
          <p:cNvPr id="16" name="Shape 13"/>
          <p:cNvSpPr/>
          <p:nvPr/>
        </p:nvSpPr>
        <p:spPr>
          <a:xfrm>
            <a:off x="8001000" y="3337560"/>
            <a:ext cx="2834640" cy="0"/>
          </a:xfrm>
          <a:prstGeom prst="line">
            <a:avLst/>
          </a:prstGeom>
          <a:noFill/>
          <a:ln w="8890">
            <a:solidFill>
              <a:srgbClr val="566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001000" y="350215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E3D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w₃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44000" y="34564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-5</a:t>
            </a:r>
            <a:endParaRPr lang="en-US" sz="2500" dirty="0"/>
          </a:p>
        </p:txBody>
      </p:sp>
      <p:sp>
        <p:nvSpPr>
          <p:cNvPr id="19" name="Shape 16"/>
          <p:cNvSpPr/>
          <p:nvPr/>
        </p:nvSpPr>
        <p:spPr>
          <a:xfrm>
            <a:off x="8001000" y="3922776"/>
            <a:ext cx="2834640" cy="0"/>
          </a:xfrm>
          <a:prstGeom prst="line">
            <a:avLst/>
          </a:prstGeom>
          <a:noFill/>
          <a:ln w="8890">
            <a:solidFill>
              <a:srgbClr val="566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001000" y="408736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E3D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144000" y="404164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-1</a:t>
            </a:r>
            <a:endParaRPr lang="en-US" sz="2500" dirty="0"/>
          </a:p>
        </p:txBody>
      </p:sp>
      <p:sp>
        <p:nvSpPr>
          <p:cNvPr id="22" name="Shape 19"/>
          <p:cNvSpPr/>
          <p:nvPr/>
        </p:nvSpPr>
        <p:spPr>
          <a:xfrm>
            <a:off x="8001000" y="4507992"/>
            <a:ext cx="2834640" cy="0"/>
          </a:xfrm>
          <a:prstGeom prst="line">
            <a:avLst/>
          </a:prstGeom>
          <a:noFill/>
          <a:ln w="8890">
            <a:solidFill>
              <a:srgbClr val="566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001000" y="4773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3B65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Plano de decisión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7909560" y="5138928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F6F1E8"/>
          </a:solidFill>
          <a:ln w="13970">
            <a:solidFill>
              <a:srgbClr val="E3B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028432" y="5330952"/>
            <a:ext cx="2779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2335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2x₁ + 2x₂ - 5x₃ - 1 = 0</a:t>
            </a:r>
            <a:endParaRPr lang="en-US" sz="1720" dirty="0"/>
          </a:p>
        </p:txBody>
      </p:sp>
      <p:sp>
        <p:nvSpPr>
          <p:cNvPr id="26" name="Text 23"/>
          <p:cNvSpPr/>
          <p:nvPr/>
        </p:nvSpPr>
        <p:spPr>
          <a:xfrm>
            <a:off x="411480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16D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Programación avanzada  ·  Perceptrón XOR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411480" y="6318504"/>
            <a:ext cx="11356848" cy="0"/>
          </a:xfrm>
          <a:prstGeom prst="line">
            <a:avLst/>
          </a:prstGeom>
          <a:noFill/>
          <a:ln w="8890">
            <a:solidFill>
              <a:srgbClr val="D5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6D65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D977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7 · VISUALIZACIÓN 3D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3352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Plano de separación en el espacio transformado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83880" cy="4773168"/>
          </a:xfrm>
          <a:prstGeom prst="roundRect">
            <a:avLst>
              <a:gd name="adj" fmla="val 1533"/>
            </a:avLst>
          </a:prstGeom>
          <a:solidFill>
            <a:srgbClr val="FFFFFF"/>
          </a:solidFill>
          <a:ln w="10160">
            <a:solidFill>
              <a:srgbClr val="D5CEC2"/>
            </a:solidFill>
            <a:prstDash val="solid"/>
          </a:ln>
          <a:effectLst>
            <a:outerShdw blurRad="15240" dist="50800" dir="2700000" algn="bl" rotWithShape="0">
              <a:srgbClr val="9B958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work_xor/assets/xor_3d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385" y="1490472"/>
            <a:ext cx="4551229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42832" y="1298448"/>
            <a:ext cx="2743200" cy="4773168"/>
          </a:xfrm>
          <a:prstGeom prst="roundRect">
            <a:avLst>
              <a:gd name="adj" fmla="val 2667"/>
            </a:avLst>
          </a:prstGeom>
          <a:solidFill>
            <a:srgbClr val="23352D"/>
          </a:solidFill>
          <a:ln w="10160">
            <a:solidFill>
              <a:srgbClr val="23352D"/>
            </a:solidFill>
            <a:prstDash val="solid"/>
          </a:ln>
          <a:effectLst>
            <a:outerShdw blurRad="15240" dist="50800" dir="2700000" algn="bl" rotWithShape="0">
              <a:srgbClr val="9B958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299448" y="167335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3B65C"/>
          </a:solidFill>
          <a:ln w="12700">
            <a:solidFill>
              <a:srgbClr val="E3B6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299448" y="16779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352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GEOGEBRA 3D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299448" y="2231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Puntos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299448" y="2578608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DDE3D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A=(0,0,0)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DDE3D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B=(0,1,0)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DDE3D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C=(1,0,0)</a:t>
            </a:r>
            <a:endParaRPr lang="en-US" sz="1480" dirty="0"/>
          </a:p>
          <a:p>
            <a:pPr marL="0" indent="0">
              <a:buNone/>
            </a:pPr>
            <a:r>
              <a:rPr lang="en-US" sz="1480" dirty="0">
                <a:solidFill>
                  <a:srgbClr val="DDE3D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D=(1,1,1)</a:t>
            </a:r>
            <a:endParaRPr lang="en-US" sz="1480" dirty="0"/>
          </a:p>
        </p:txBody>
      </p:sp>
      <p:sp>
        <p:nvSpPr>
          <p:cNvPr id="11" name="Text 8"/>
          <p:cNvSpPr/>
          <p:nvPr/>
        </p:nvSpPr>
        <p:spPr>
          <a:xfrm>
            <a:off x="9299448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Plano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217152" y="4425696"/>
            <a:ext cx="2176272" cy="713232"/>
          </a:xfrm>
          <a:prstGeom prst="roundRect">
            <a:avLst>
              <a:gd name="adj" fmla="val 6410"/>
            </a:avLst>
          </a:prstGeom>
          <a:solidFill>
            <a:srgbClr val="F6F1E8"/>
          </a:solidFill>
          <a:ln w="13970">
            <a:solidFill>
              <a:srgbClr val="D97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326880" y="461772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23352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2x + 2y - 5z - 1 = 0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326880" y="5413248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70" dirty="0">
                <a:solidFill>
                  <a:srgbClr val="DDE3D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y D: clase 0</a:t>
            </a:r>
            <a:endParaRPr lang="en-US" sz="1370" dirty="0"/>
          </a:p>
          <a:p>
            <a:pPr marL="0" indent="0" algn="ctr">
              <a:buNone/>
            </a:pPr>
            <a:r>
              <a:rPr lang="en-US" sz="1370" dirty="0">
                <a:solidFill>
                  <a:srgbClr val="DDE3D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 y C: clase 1</a:t>
            </a:r>
            <a:endParaRPr lang="en-US" sz="1370" dirty="0"/>
          </a:p>
        </p:txBody>
      </p:sp>
      <p:sp>
        <p:nvSpPr>
          <p:cNvPr id="15" name="Text 12"/>
          <p:cNvSpPr/>
          <p:nvPr/>
        </p:nvSpPr>
        <p:spPr>
          <a:xfrm>
            <a:off x="411480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16D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Programación avanzada  ·  Perceptrón XOR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411480" y="6318504"/>
            <a:ext cx="11356848" cy="0"/>
          </a:xfrm>
          <a:prstGeom prst="line">
            <a:avLst/>
          </a:prstGeom>
          <a:noFill/>
          <a:ln w="8890">
            <a:solidFill>
              <a:srgbClr val="D5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6D65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D977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8 · CLASIFICACIÓN FINAL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3352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Verificación de las cuatro combinaciones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5496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0160">
            <a:solidFill>
              <a:srgbClr val="D5CEC2"/>
            </a:solidFill>
            <a:prstDash val="solid"/>
          </a:ln>
          <a:effectLst>
            <a:outerShdw blurRad="15240" dist="50800" dir="2700000" algn="bl" rotWithShape="0">
              <a:srgbClr val="9B958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37360"/>
          <a:ext cx="7909560" cy="324612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Entrada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φ(x)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Esperado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Puntuación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Obtenido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(0,0)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(0,0,0)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-1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(0,1)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(0,1,0)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(1,0)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(1,0,0)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(1,1)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(1,1,1)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-2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20" dirty="0">
                          <a:solidFill>
                            <a:srgbClr val="2B2A2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0</a:t>
                      </a:r>
                      <a:endParaRPr lang="en-US" sz="152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5C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1737360"/>
            <a:ext cx="7909560" cy="621792"/>
          </a:xfrm>
          <a:prstGeom prst="rect">
            <a:avLst/>
          </a:prstGeom>
          <a:solidFill>
            <a:srgbClr val="23352D"/>
          </a:solidFill>
          <a:ln w="12700">
            <a:solidFill>
              <a:srgbClr val="2335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177393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Entrada</a:t>
            </a:r>
            <a:endParaRPr lang="en-US" sz="1520" dirty="0"/>
          </a:p>
        </p:txBody>
      </p:sp>
      <p:sp>
        <p:nvSpPr>
          <p:cNvPr id="8" name="Text 5"/>
          <p:cNvSpPr/>
          <p:nvPr/>
        </p:nvSpPr>
        <p:spPr>
          <a:xfrm>
            <a:off x="2148840" y="177393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φ(x)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4069080" y="177393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Esperado</a:t>
            </a:r>
            <a:endParaRPr lang="en-US" sz="1520" dirty="0"/>
          </a:p>
        </p:txBody>
      </p:sp>
      <p:sp>
        <p:nvSpPr>
          <p:cNvPr id="5" name="Text 7"/>
          <p:cNvSpPr/>
          <p:nvPr/>
        </p:nvSpPr>
        <p:spPr>
          <a:xfrm>
            <a:off x="5486400" y="177393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Puntuación</a:t>
            </a:r>
            <a:endParaRPr lang="en-US" sz="1520" dirty="0"/>
          </a:p>
        </p:txBody>
      </p:sp>
      <p:sp>
        <p:nvSpPr>
          <p:cNvPr id="11" name="Text 8"/>
          <p:cNvSpPr/>
          <p:nvPr/>
        </p:nvSpPr>
        <p:spPr>
          <a:xfrm>
            <a:off x="7132320" y="1773936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Obtenido</a:t>
            </a:r>
            <a:endParaRPr lang="en-US" sz="1520" dirty="0"/>
          </a:p>
        </p:txBody>
      </p:sp>
      <p:sp>
        <p:nvSpPr>
          <p:cNvPr id="12" name="Text 9"/>
          <p:cNvSpPr/>
          <p:nvPr/>
        </p:nvSpPr>
        <p:spPr>
          <a:xfrm>
            <a:off x="1005840" y="533095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716D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Una puntuación negativa produce la clase 0; una puntuación positiva produce la clase 1.</a:t>
            </a:r>
            <a:endParaRPr lang="en-US" sz="1430" dirty="0"/>
          </a:p>
        </p:txBody>
      </p:sp>
      <p:sp>
        <p:nvSpPr>
          <p:cNvPr id="13" name="Shape 10"/>
          <p:cNvSpPr/>
          <p:nvPr/>
        </p:nvSpPr>
        <p:spPr>
          <a:xfrm>
            <a:off x="9308592" y="1298448"/>
            <a:ext cx="2377440" cy="4754880"/>
          </a:xfrm>
          <a:prstGeom prst="roundRect">
            <a:avLst>
              <a:gd name="adj" fmla="val 3077"/>
            </a:avLst>
          </a:prstGeom>
          <a:solidFill>
            <a:srgbClr val="23352D"/>
          </a:solidFill>
          <a:ln w="10160">
            <a:solidFill>
              <a:srgbClr val="23352D"/>
            </a:solidFill>
            <a:prstDash val="solid"/>
          </a:ln>
          <a:effectLst>
            <a:outerShdw blurRad="15240" dist="50800" dir="2700000" algn="bl" rotWithShape="0">
              <a:srgbClr val="9B958A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491472" y="1993392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900" b="1" dirty="0">
                <a:solidFill>
                  <a:srgbClr val="E3B65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100%</a:t>
            </a:r>
            <a:endParaRPr lang="en-US" sz="4900" dirty="0"/>
          </a:p>
        </p:txBody>
      </p:sp>
      <p:sp>
        <p:nvSpPr>
          <p:cNvPr id="15" name="Text 12"/>
          <p:cNvSpPr/>
          <p:nvPr/>
        </p:nvSpPr>
        <p:spPr>
          <a:xfrm>
            <a:off x="9491472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20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EXACTITUD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710928" y="3611880"/>
            <a:ext cx="1572768" cy="0"/>
          </a:xfrm>
          <a:prstGeom prst="line">
            <a:avLst/>
          </a:prstGeom>
          <a:noFill/>
          <a:ln w="12700">
            <a:solidFill>
              <a:srgbClr val="6574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555480" y="4005072"/>
            <a:ext cx="18745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DE3D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 de 4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DDE3D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combinaciones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DDE3D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correctas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11480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716D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Programación avanzada  ·  Perceptrón XOR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11480" y="6318504"/>
            <a:ext cx="11356848" cy="0"/>
          </a:xfrm>
          <a:prstGeom prst="line">
            <a:avLst/>
          </a:prstGeom>
          <a:noFill/>
          <a:ln w="8890">
            <a:solidFill>
              <a:srgbClr val="D5CE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6D65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3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E3B65C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9 · CIERRE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Conclusiones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21792" y="1389888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31463C"/>
          </a:solidFill>
          <a:ln w="10160">
            <a:solidFill>
              <a:srgbClr val="5366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87552" y="1897380"/>
            <a:ext cx="96012" cy="96012"/>
          </a:xfrm>
          <a:prstGeom prst="ellipse">
            <a:avLst/>
          </a:prstGeom>
          <a:solidFill>
            <a:srgbClr val="D97745"/>
          </a:solidFill>
          <a:ln w="12700">
            <a:solidFill>
              <a:srgbClr val="D977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97864" y="1810512"/>
            <a:ext cx="5550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XOR no es linealmente separable usando únicamente x₁ y x₂.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87552" y="2756916"/>
            <a:ext cx="96012" cy="96012"/>
          </a:xfrm>
          <a:prstGeom prst="ellipse">
            <a:avLst/>
          </a:prstGeom>
          <a:solidFill>
            <a:srgbClr val="E3B65C"/>
          </a:solidFill>
          <a:ln w="12700">
            <a:solidFill>
              <a:srgbClr val="E3B6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97864" y="2670048"/>
            <a:ext cx="5550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término x₁x₂ agrega la interacción necesaria y lleva los datos a 3D.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87552" y="3726180"/>
            <a:ext cx="96012" cy="96012"/>
          </a:xfrm>
          <a:prstGeom prst="ellipse">
            <a:avLst/>
          </a:prstGeom>
          <a:solidFill>
            <a:srgbClr val="2F6F6D"/>
          </a:solidFill>
          <a:ln w="12700">
            <a:solidFill>
              <a:srgbClr val="2F6F6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97864" y="3639312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perceptrón converge en 12 épocas con w=(2,2,-5) y b=-1.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87552" y="4613148"/>
            <a:ext cx="96012" cy="96012"/>
          </a:xfrm>
          <a:prstGeom prst="ellipse">
            <a:avLst/>
          </a:prstGeom>
          <a:solidFill>
            <a:srgbClr val="A7B39C"/>
          </a:solidFill>
          <a:ln w="12700">
            <a:solidFill>
              <a:srgbClr val="A7B3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97864" y="4526280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plano obtenido clasifica correctamente las cuatro salidas de XOR.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06640" y="1389888"/>
            <a:ext cx="4160520" cy="4434840"/>
          </a:xfrm>
          <a:prstGeom prst="roundRect">
            <a:avLst>
              <a:gd name="adj" fmla="val 1758"/>
            </a:avLst>
          </a:prstGeom>
          <a:solidFill>
            <a:srgbClr val="F6F1E8"/>
          </a:solidFill>
          <a:ln w="10160">
            <a:solidFill>
              <a:srgbClr val="F6F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818120" y="1783080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D97745"/>
          </a:solidFill>
          <a:ln w="12700">
            <a:solidFill>
              <a:srgbClr val="D977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8120" y="17876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ARCHIVO DE CÓDIGO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18120" y="2359152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3352D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perceptron_xor.js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818120" y="30632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716D6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Ejecución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909560" y="3493008"/>
            <a:ext cx="3154680" cy="667512"/>
          </a:xfrm>
          <a:prstGeom prst="roundRect">
            <a:avLst>
              <a:gd name="adj" fmla="val 6849"/>
            </a:avLst>
          </a:prstGeom>
          <a:solidFill>
            <a:srgbClr val="2B2A28"/>
          </a:solidFill>
          <a:ln w="12700">
            <a:solidFill>
              <a:srgbClr val="2B2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19288" y="36941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node perceptron_xor.js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936992" y="4617720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716D6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 programa imprime las épocas, pesos, sesgo, puntuaciones y exactitud final.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818120" y="53492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4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Gracias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11480" y="64373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D9DED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Programación avanzada  ·  Perceptrón XOR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11480" y="6318504"/>
            <a:ext cx="11356848" cy="0"/>
          </a:xfrm>
          <a:prstGeom prst="line">
            <a:avLst/>
          </a:prstGeom>
          <a:noFill/>
          <a:ln w="8890">
            <a:solidFill>
              <a:srgbClr val="6574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25603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16D65"/>
                </a:solidFill>
                <a:latin typeface="Lato"/>
                <a:ea typeface="Lato"/>
                <a:cs typeface="Lato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898</Words>
  <Application>Microsoft Office PowerPoint</Application>
  <PresentationFormat>Panorámica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DejaVu Sans Mono</vt:lpstr>
      <vt:lpstr>Inter Display</vt:lpstr>
      <vt:lpstr>Lato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Autónoma del Carmen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Perceptrón para la compuerta XOR</dc:title>
  <dc:subject>Perceptrón aplicado a XOR mediante ingeniería de características</dc:subject>
  <dc:creator>Gabriel Ernesto González Palomo, Carlos Rafael Mendez Gonzalez y Rosendo Maximiliano Rodriguez Alvarado</dc:creator>
  <cp:lastModifiedBy>GABRIEL ERNESTO GONZALEZ PALOMO</cp:lastModifiedBy>
  <cp:revision>2</cp:revision>
  <dcterms:created xsi:type="dcterms:W3CDTF">2026-07-11T21:46:53Z</dcterms:created>
  <dcterms:modified xsi:type="dcterms:W3CDTF">2026-07-12T23:56:13Z</dcterms:modified>
</cp:coreProperties>
</file>